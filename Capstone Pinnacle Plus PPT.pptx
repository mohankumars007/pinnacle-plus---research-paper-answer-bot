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Inter Bold" charset="1" panose="02000503000000020004"/>
      <p:regular r:id="rId23"/>
    </p:embeddedFont>
    <p:embeddedFont>
      <p:font typeface="Inter" charset="1" panose="02000503000000020004"/>
      <p:regular r:id="rId24"/>
    </p:embeddedFont>
    <p:embeddedFont>
      <p:font typeface="Consolas" charset="1" panose="020B0609020204030204"/>
      <p:regular r:id="rId30"/>
    </p:embeddedFont>
    <p:embeddedFont>
      <p:font typeface="Consolas Bold" charset="1" panose="020B0709020204030204"/>
      <p:regular r:id="rId31"/>
    </p:embeddedFont>
    <p:embeddedFont>
      <p:font typeface="Inter Italics" charset="1" panose="02000503000000020004"/>
      <p:regular r:id="rId36"/>
    </p:embeddedFont>
    <p:embeddedFont>
      <p:font typeface="Inter Light" charset="1" panose="020005030000000200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3.png" Type="http://schemas.openxmlformats.org/officeDocument/2006/relationships/image"/><Relationship Id="rId4" Target="../media/image24.jpe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80438" y="760962"/>
            <a:ext cx="6579460" cy="8772982"/>
            <a:chOff x="0" y="0"/>
            <a:chExt cx="8772614" cy="1169731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772652" cy="11697335"/>
            </a:xfrm>
            <a:custGeom>
              <a:avLst/>
              <a:gdLst/>
              <a:ahLst/>
              <a:cxnLst/>
              <a:rect r="r" b="b" t="t" l="l"/>
              <a:pathLst>
                <a:path h="11697335" w="8772652">
                  <a:moveTo>
                    <a:pt x="0" y="0"/>
                  </a:moveTo>
                  <a:lnTo>
                    <a:pt x="8772652" y="0"/>
                  </a:lnTo>
                  <a:lnTo>
                    <a:pt x="8772652" y="11697335"/>
                  </a:lnTo>
                  <a:lnTo>
                    <a:pt x="0" y="11697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3" r="0" b="-1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2991" y="1472336"/>
            <a:ext cx="9452677" cy="91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b="true" sz="5554" spc="-16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Pinnacle Plus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991" y="2482024"/>
            <a:ext cx="9452677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Research Paper Answer Bot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991" y="3293669"/>
            <a:ext cx="9452677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Grounded Question Answering over Landmark Generative AI Research Papers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88219" y="4592260"/>
            <a:ext cx="9462211" cy="4206488"/>
            <a:chOff x="0" y="0"/>
            <a:chExt cx="12616282" cy="56086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616307" cy="5608574"/>
            </a:xfrm>
            <a:custGeom>
              <a:avLst/>
              <a:gdLst/>
              <a:ahLst/>
              <a:cxnLst/>
              <a:rect r="r" b="b" t="t" l="l"/>
              <a:pathLst>
                <a:path h="5608574" w="12616307">
                  <a:moveTo>
                    <a:pt x="0" y="159258"/>
                  </a:moveTo>
                  <a:cubicBezTo>
                    <a:pt x="0" y="71374"/>
                    <a:pt x="71374" y="0"/>
                    <a:pt x="159258" y="0"/>
                  </a:cubicBezTo>
                  <a:lnTo>
                    <a:pt x="12457049" y="0"/>
                  </a:lnTo>
                  <a:cubicBezTo>
                    <a:pt x="12545060" y="0"/>
                    <a:pt x="12616307" y="71374"/>
                    <a:pt x="12616307" y="159258"/>
                  </a:cubicBezTo>
                  <a:lnTo>
                    <a:pt x="12616307" y="5449316"/>
                  </a:lnTo>
                  <a:cubicBezTo>
                    <a:pt x="12616307" y="5537327"/>
                    <a:pt x="12544933" y="5608574"/>
                    <a:pt x="12457049" y="5608574"/>
                  </a:cubicBezTo>
                  <a:lnTo>
                    <a:pt x="159258" y="5608574"/>
                  </a:lnTo>
                  <a:cubicBezTo>
                    <a:pt x="71374" y="5608701"/>
                    <a:pt x="0" y="5537327"/>
                    <a:pt x="0" y="5449316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02525" y="4606557"/>
            <a:ext cx="4716809" cy="2088947"/>
            <a:chOff x="0" y="0"/>
            <a:chExt cx="6289078" cy="27852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89040" cy="2785237"/>
            </a:xfrm>
            <a:custGeom>
              <a:avLst/>
              <a:gdLst/>
              <a:ahLst/>
              <a:cxnLst/>
              <a:rect r="r" b="b" t="t" l="l"/>
              <a:pathLst>
                <a:path h="2785237" w="6289040">
                  <a:moveTo>
                    <a:pt x="132461" y="0"/>
                  </a:moveTo>
                  <a:lnTo>
                    <a:pt x="6289040" y="0"/>
                  </a:lnTo>
                  <a:lnTo>
                    <a:pt x="6289040" y="2785237"/>
                  </a:lnTo>
                  <a:lnTo>
                    <a:pt x="0" y="2785237"/>
                  </a:lnTo>
                  <a:lnTo>
                    <a:pt x="0" y="132461"/>
                  </a:lnTo>
                  <a:cubicBezTo>
                    <a:pt x="0" y="59309"/>
                    <a:pt x="59309" y="0"/>
                    <a:pt x="132461" y="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86256" y="4871247"/>
            <a:ext cx="1562579" cy="440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Project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6256" y="5427593"/>
            <a:ext cx="4149338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Generative AI Pinnacle Plus Capstone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719324" y="4606557"/>
            <a:ext cx="4716809" cy="2088947"/>
            <a:chOff x="0" y="0"/>
            <a:chExt cx="6289078" cy="278526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89167" cy="2785364"/>
            </a:xfrm>
            <a:custGeom>
              <a:avLst/>
              <a:gdLst/>
              <a:ahLst/>
              <a:cxnLst/>
              <a:rect r="r" b="b" t="t" l="l"/>
              <a:pathLst>
                <a:path h="2785364" w="6289167">
                  <a:moveTo>
                    <a:pt x="0" y="0"/>
                  </a:moveTo>
                  <a:lnTo>
                    <a:pt x="6156706" y="0"/>
                  </a:lnTo>
                  <a:cubicBezTo>
                    <a:pt x="6229858" y="0"/>
                    <a:pt x="6289167" y="59309"/>
                    <a:pt x="6289167" y="132461"/>
                  </a:cubicBezTo>
                  <a:lnTo>
                    <a:pt x="6289167" y="2785364"/>
                  </a:lnTo>
                  <a:lnTo>
                    <a:pt x="0" y="27853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719324" y="4606557"/>
            <a:ext cx="38129" cy="2088947"/>
            <a:chOff x="0" y="0"/>
            <a:chExt cx="50838" cy="278526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800" cy="2785237"/>
            </a:xfrm>
            <a:custGeom>
              <a:avLst/>
              <a:gdLst/>
              <a:ahLst/>
              <a:cxnLst/>
              <a:rect r="r" b="b" t="t" l="l"/>
              <a:pathLst>
                <a:path h="2785237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759837"/>
                  </a:lnTo>
                  <a:cubicBezTo>
                    <a:pt x="50800" y="2773934"/>
                    <a:pt x="39370" y="2785237"/>
                    <a:pt x="25400" y="2785237"/>
                  </a:cubicBezTo>
                  <a:cubicBezTo>
                    <a:pt x="11430" y="2785237"/>
                    <a:pt x="0" y="2773807"/>
                    <a:pt x="0" y="2759837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6003055" y="4871247"/>
            <a:ext cx="4149338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Focus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003055" y="5427593"/>
            <a:ext cx="4149338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End-to-End RAG System with Verifiable Citations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02525" y="6695504"/>
            <a:ext cx="9433608" cy="2088947"/>
            <a:chOff x="0" y="0"/>
            <a:chExt cx="12578144" cy="278526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578207" cy="2785364"/>
            </a:xfrm>
            <a:custGeom>
              <a:avLst/>
              <a:gdLst/>
              <a:ahLst/>
              <a:cxnLst/>
              <a:rect r="r" b="b" t="t" l="l"/>
              <a:pathLst>
                <a:path h="2785364" w="12578207">
                  <a:moveTo>
                    <a:pt x="0" y="0"/>
                  </a:moveTo>
                  <a:lnTo>
                    <a:pt x="12578207" y="0"/>
                  </a:lnTo>
                  <a:lnTo>
                    <a:pt x="12578207" y="2652903"/>
                  </a:lnTo>
                  <a:cubicBezTo>
                    <a:pt x="12578207" y="2726055"/>
                    <a:pt x="12518898" y="2785364"/>
                    <a:pt x="12445746" y="2785364"/>
                  </a:cubicBezTo>
                  <a:lnTo>
                    <a:pt x="132461" y="2785364"/>
                  </a:lnTo>
                  <a:cubicBezTo>
                    <a:pt x="59309" y="2785237"/>
                    <a:pt x="0" y="2725928"/>
                    <a:pt x="0" y="265290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02525" y="6695504"/>
            <a:ext cx="9433608" cy="38129"/>
            <a:chOff x="0" y="0"/>
            <a:chExt cx="12578144" cy="5083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578080" cy="50800"/>
            </a:xfrm>
            <a:custGeom>
              <a:avLst/>
              <a:gdLst/>
              <a:ahLst/>
              <a:cxnLst/>
              <a:rect r="r" b="b" t="t" l="l"/>
              <a:pathLst>
                <a:path h="50800" w="1257808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552680" y="0"/>
                  </a:lnTo>
                  <a:cubicBezTo>
                    <a:pt x="12566777" y="0"/>
                    <a:pt x="12578080" y="11430"/>
                    <a:pt x="12578080" y="25400"/>
                  </a:cubicBezTo>
                  <a:cubicBezTo>
                    <a:pt x="12578080" y="39497"/>
                    <a:pt x="12566650" y="50800"/>
                    <a:pt x="12552680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86256" y="6960194"/>
            <a:ext cx="8866146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Core Pipeline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86256" y="7516539"/>
            <a:ext cx="8866146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Research Papers → Hybrid Retrieval → Cross-Encoder Reranking → Google Gemini → Grounded Answer + Top-3 Evidence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66293" y="191395"/>
            <a:ext cx="6607902" cy="9912106"/>
            <a:chOff x="0" y="0"/>
            <a:chExt cx="8810536" cy="13216141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810498" cy="13216128"/>
            </a:xfrm>
            <a:custGeom>
              <a:avLst/>
              <a:gdLst/>
              <a:ahLst/>
              <a:cxnLst/>
              <a:rect r="r" b="b" t="t" l="l"/>
              <a:pathLst>
                <a:path h="13216128" w="8810498">
                  <a:moveTo>
                    <a:pt x="0" y="0"/>
                  </a:moveTo>
                  <a:lnTo>
                    <a:pt x="8810498" y="0"/>
                  </a:lnTo>
                  <a:lnTo>
                    <a:pt x="8810498" y="13216128"/>
                  </a:lnTo>
                  <a:lnTo>
                    <a:pt x="0" y="13216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4" t="0" r="-25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2991" y="956986"/>
            <a:ext cx="9452677" cy="162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b="true" sz="4953" spc="-15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Problem Statement &amp; Motivation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88219" y="2921546"/>
            <a:ext cx="9462211" cy="6392694"/>
            <a:chOff x="0" y="0"/>
            <a:chExt cx="12616282" cy="85235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616307" cy="8523732"/>
            </a:xfrm>
            <a:custGeom>
              <a:avLst/>
              <a:gdLst/>
              <a:ahLst/>
              <a:cxnLst/>
              <a:rect r="r" b="b" t="t" l="l"/>
              <a:pathLst>
                <a:path h="8523732" w="12616307">
                  <a:moveTo>
                    <a:pt x="0" y="143256"/>
                  </a:moveTo>
                  <a:cubicBezTo>
                    <a:pt x="0" y="64135"/>
                    <a:pt x="64135" y="0"/>
                    <a:pt x="143256" y="0"/>
                  </a:cubicBezTo>
                  <a:lnTo>
                    <a:pt x="12473051" y="0"/>
                  </a:lnTo>
                  <a:cubicBezTo>
                    <a:pt x="12552172" y="0"/>
                    <a:pt x="12616307" y="64135"/>
                    <a:pt x="12616307" y="143256"/>
                  </a:cubicBezTo>
                  <a:lnTo>
                    <a:pt x="12616307" y="8380476"/>
                  </a:lnTo>
                  <a:cubicBezTo>
                    <a:pt x="12616307" y="8459597"/>
                    <a:pt x="12552172" y="8523732"/>
                    <a:pt x="12473051" y="8523732"/>
                  </a:cubicBezTo>
                  <a:lnTo>
                    <a:pt x="143256" y="8523732"/>
                  </a:lnTo>
                  <a:cubicBezTo>
                    <a:pt x="64135" y="8523605"/>
                    <a:pt x="0" y="8459470"/>
                    <a:pt x="0" y="8380349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02525" y="2935843"/>
            <a:ext cx="3144441" cy="4540577"/>
            <a:chOff x="0" y="0"/>
            <a:chExt cx="4192588" cy="60541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92524" cy="6054090"/>
            </a:xfrm>
            <a:custGeom>
              <a:avLst/>
              <a:gdLst/>
              <a:ahLst/>
              <a:cxnLst/>
              <a:rect r="r" b="b" t="t" l="l"/>
              <a:pathLst>
                <a:path h="6054090" w="4192524">
                  <a:moveTo>
                    <a:pt x="119126" y="0"/>
                  </a:moveTo>
                  <a:lnTo>
                    <a:pt x="4192524" y="0"/>
                  </a:lnTo>
                  <a:lnTo>
                    <a:pt x="4192524" y="6054090"/>
                  </a:lnTo>
                  <a:lnTo>
                    <a:pt x="0" y="6054090"/>
                  </a:lnTo>
                  <a:lnTo>
                    <a:pt x="0" y="119126"/>
                  </a:lnTo>
                  <a:cubicBezTo>
                    <a:pt x="0" y="53340"/>
                    <a:pt x="53340" y="0"/>
                    <a:pt x="119126" y="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57805" y="3172082"/>
            <a:ext cx="2633872" cy="41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b="true" sz="2476" spc="-7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The Challenge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7805" y="3661105"/>
            <a:ext cx="2633872" cy="3560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 spc="-4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Researchers manually search lengthy PDFs (20–80 pages) to locate equations, hyperparameters, and experimental claims — a slow, error-prone process with no provenance trail.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146956" y="2935843"/>
            <a:ext cx="3144584" cy="4540577"/>
            <a:chOff x="0" y="0"/>
            <a:chExt cx="4192778" cy="605410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92778" cy="6054090"/>
            </a:xfrm>
            <a:custGeom>
              <a:avLst/>
              <a:gdLst/>
              <a:ahLst/>
              <a:cxnLst/>
              <a:rect r="r" b="b" t="t" l="l"/>
              <a:pathLst>
                <a:path h="6054090" w="4192778">
                  <a:moveTo>
                    <a:pt x="0" y="0"/>
                  </a:moveTo>
                  <a:lnTo>
                    <a:pt x="4192778" y="0"/>
                  </a:lnTo>
                  <a:lnTo>
                    <a:pt x="4192778" y="6054090"/>
                  </a:lnTo>
                  <a:lnTo>
                    <a:pt x="0" y="6054090"/>
                  </a:ln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146956" y="2935843"/>
            <a:ext cx="28594" cy="4540577"/>
            <a:chOff x="0" y="0"/>
            <a:chExt cx="38125" cy="605410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100" cy="6054090"/>
            </a:xfrm>
            <a:custGeom>
              <a:avLst/>
              <a:gdLst/>
              <a:ahLst/>
              <a:cxnLst/>
              <a:rect r="r" b="b" t="t" l="l"/>
              <a:pathLst>
                <a:path h="6054090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6035040"/>
                  </a:lnTo>
                  <a:cubicBezTo>
                    <a:pt x="38100" y="6045581"/>
                    <a:pt x="29591" y="6054090"/>
                    <a:pt x="19050" y="6054090"/>
                  </a:cubicBezTo>
                  <a:cubicBezTo>
                    <a:pt x="8509" y="6054090"/>
                    <a:pt x="0" y="6045581"/>
                    <a:pt x="0" y="603504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4402245" y="3172082"/>
            <a:ext cx="2634015" cy="41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b="true" sz="2476" spc="-7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LLM Limitation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402245" y="3661105"/>
            <a:ext cx="2634015" cy="2783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 spc="-4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Generic models </a:t>
            </a:r>
            <a:r>
              <a:rPr lang="en-US" b="true" sz="1951" spc="-4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hallucinate</a:t>
            </a:r>
            <a:r>
              <a:rPr lang="en-US" sz="1951" spc="-4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lack provenance, and cannot cite exact page numbers or verify claims against original sources.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291540" y="2935843"/>
            <a:ext cx="3144584" cy="4540577"/>
            <a:chOff x="0" y="0"/>
            <a:chExt cx="4192778" cy="605410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92778" cy="6054090"/>
            </a:xfrm>
            <a:custGeom>
              <a:avLst/>
              <a:gdLst/>
              <a:ahLst/>
              <a:cxnLst/>
              <a:rect r="r" b="b" t="t" l="l"/>
              <a:pathLst>
                <a:path h="6054090" w="4192778">
                  <a:moveTo>
                    <a:pt x="0" y="0"/>
                  </a:moveTo>
                  <a:lnTo>
                    <a:pt x="4073652" y="0"/>
                  </a:lnTo>
                  <a:cubicBezTo>
                    <a:pt x="4139438" y="0"/>
                    <a:pt x="4192778" y="53340"/>
                    <a:pt x="4192778" y="119126"/>
                  </a:cubicBezTo>
                  <a:lnTo>
                    <a:pt x="4192778" y="6054090"/>
                  </a:lnTo>
                  <a:lnTo>
                    <a:pt x="0" y="60540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291540" y="2935843"/>
            <a:ext cx="28594" cy="4540577"/>
            <a:chOff x="0" y="0"/>
            <a:chExt cx="38125" cy="605410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8100" cy="6054090"/>
            </a:xfrm>
            <a:custGeom>
              <a:avLst/>
              <a:gdLst/>
              <a:ahLst/>
              <a:cxnLst/>
              <a:rect r="r" b="b" t="t" l="l"/>
              <a:pathLst>
                <a:path h="6054090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6035040"/>
                  </a:lnTo>
                  <a:cubicBezTo>
                    <a:pt x="38100" y="6045581"/>
                    <a:pt x="29591" y="6054090"/>
                    <a:pt x="19050" y="6054090"/>
                  </a:cubicBezTo>
                  <a:cubicBezTo>
                    <a:pt x="8509" y="6054090"/>
                    <a:pt x="0" y="6045581"/>
                    <a:pt x="0" y="603504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7546829" y="3172082"/>
            <a:ext cx="2634015" cy="41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b="true" sz="2476" spc="-7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Project Mission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546829" y="3661105"/>
            <a:ext cx="2634015" cy="3171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 spc="-4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Build a production-grade RAG system that answers questions using a curated research corpus and provides verifiable paper/page-level evidence.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02525" y="7476420"/>
            <a:ext cx="9433608" cy="1823523"/>
            <a:chOff x="0" y="0"/>
            <a:chExt cx="12578144" cy="24313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578207" cy="2431288"/>
            </a:xfrm>
            <a:custGeom>
              <a:avLst/>
              <a:gdLst/>
              <a:ahLst/>
              <a:cxnLst/>
              <a:rect r="r" b="b" t="t" l="l"/>
              <a:pathLst>
                <a:path h="2431288" w="12578207">
                  <a:moveTo>
                    <a:pt x="0" y="0"/>
                  </a:moveTo>
                  <a:lnTo>
                    <a:pt x="12578207" y="0"/>
                  </a:lnTo>
                  <a:lnTo>
                    <a:pt x="12578207" y="2312162"/>
                  </a:lnTo>
                  <a:cubicBezTo>
                    <a:pt x="12578207" y="2377948"/>
                    <a:pt x="12524867" y="2431288"/>
                    <a:pt x="12459081" y="2431288"/>
                  </a:cubicBezTo>
                  <a:lnTo>
                    <a:pt x="119126" y="2431288"/>
                  </a:lnTo>
                  <a:cubicBezTo>
                    <a:pt x="53340" y="2431288"/>
                    <a:pt x="0" y="2377948"/>
                    <a:pt x="0" y="23121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02525" y="7476420"/>
            <a:ext cx="9433608" cy="28594"/>
            <a:chOff x="0" y="0"/>
            <a:chExt cx="12578144" cy="3812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578080" cy="38100"/>
            </a:xfrm>
            <a:custGeom>
              <a:avLst/>
              <a:gdLst/>
              <a:ahLst/>
              <a:cxnLst/>
              <a:rect r="r" b="b" t="t" l="l"/>
              <a:pathLst>
                <a:path h="38100" w="1257808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2559030" y="0"/>
                  </a:lnTo>
                  <a:cubicBezTo>
                    <a:pt x="12569572" y="0"/>
                    <a:pt x="12578080" y="8509"/>
                    <a:pt x="12578080" y="19050"/>
                  </a:cubicBezTo>
                  <a:cubicBezTo>
                    <a:pt x="12578080" y="29591"/>
                    <a:pt x="12569572" y="38100"/>
                    <a:pt x="1255903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257805" y="7712659"/>
            <a:ext cx="8923039" cy="41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b="true" sz="2476" spc="-7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Success Criteria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57805" y="8201682"/>
            <a:ext cx="8923039" cy="842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b="true" sz="1951" spc="-4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100% grounded responses</a:t>
            </a:r>
            <a:r>
              <a:rPr lang="en-US" sz="1951" spc="-4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with Top-3 supporting sources — Title, Page, and Passage — for every answer.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042473"/>
            <a:ext cx="16315868" cy="59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6"/>
              </a:lnSpc>
            </a:pPr>
            <a:r>
              <a:rPr lang="en-US" b="true" sz="3602" spc="-10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Curated Research Corpus: 15 Landmark Papers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8219" y="1872825"/>
            <a:ext cx="8107594" cy="1285989"/>
            <a:chOff x="0" y="0"/>
            <a:chExt cx="10810126" cy="17146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10113" cy="1714627"/>
            </a:xfrm>
            <a:custGeom>
              <a:avLst/>
              <a:gdLst/>
              <a:ahLst/>
              <a:cxnLst/>
              <a:rect r="r" b="b" t="t" l="l"/>
              <a:pathLst>
                <a:path h="1714627" w="10810113">
                  <a:moveTo>
                    <a:pt x="0" y="104013"/>
                  </a:moveTo>
                  <a:cubicBezTo>
                    <a:pt x="0" y="46609"/>
                    <a:pt x="46609" y="0"/>
                    <a:pt x="104013" y="0"/>
                  </a:cubicBezTo>
                  <a:lnTo>
                    <a:pt x="10706100" y="0"/>
                  </a:lnTo>
                  <a:cubicBezTo>
                    <a:pt x="10763631" y="0"/>
                    <a:pt x="10810113" y="46609"/>
                    <a:pt x="10810113" y="104013"/>
                  </a:cubicBezTo>
                  <a:lnTo>
                    <a:pt x="10810113" y="1610614"/>
                  </a:lnTo>
                  <a:cubicBezTo>
                    <a:pt x="10810113" y="1668145"/>
                    <a:pt x="10763504" y="1714627"/>
                    <a:pt x="10706100" y="1714627"/>
                  </a:cubicBezTo>
                  <a:lnTo>
                    <a:pt x="104013" y="1714627"/>
                  </a:lnTo>
                  <a:cubicBezTo>
                    <a:pt x="46482" y="1714627"/>
                    <a:pt x="0" y="1668018"/>
                    <a:pt x="0" y="1610614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186910" y="2061991"/>
            <a:ext cx="7710221" cy="29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-5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Transformers &amp; Architecture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6910" y="2412473"/>
            <a:ext cx="7710221" cy="547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8293" indent="-129146" lvl="1">
              <a:lnSpc>
                <a:spcPts val="1882"/>
              </a:lnSpc>
              <a:buFont typeface="Arial"/>
              <a:buChar char="•"/>
            </a:pPr>
            <a:r>
              <a:rPr lang="en-US" sz="1426" spc="-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Attention Is All You Need (2017)</a:t>
            </a:r>
          </a:p>
          <a:p>
            <a:pPr algn="l" marL="258293" indent="-129146" lvl="1">
              <a:lnSpc>
                <a:spcPts val="1882"/>
              </a:lnSpc>
              <a:buFont typeface="Arial"/>
              <a:buChar char="•"/>
            </a:pPr>
            <a:r>
              <a:rPr lang="en-US" sz="1426" spc="-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BERT (2018)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206027" y="1872825"/>
            <a:ext cx="8107594" cy="1285989"/>
            <a:chOff x="0" y="0"/>
            <a:chExt cx="10810126" cy="17146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10113" cy="1714627"/>
            </a:xfrm>
            <a:custGeom>
              <a:avLst/>
              <a:gdLst/>
              <a:ahLst/>
              <a:cxnLst/>
              <a:rect r="r" b="b" t="t" l="l"/>
              <a:pathLst>
                <a:path h="1714627" w="10810113">
                  <a:moveTo>
                    <a:pt x="0" y="104013"/>
                  </a:moveTo>
                  <a:cubicBezTo>
                    <a:pt x="0" y="46609"/>
                    <a:pt x="46609" y="0"/>
                    <a:pt x="104013" y="0"/>
                  </a:cubicBezTo>
                  <a:lnTo>
                    <a:pt x="10706100" y="0"/>
                  </a:lnTo>
                  <a:cubicBezTo>
                    <a:pt x="10763631" y="0"/>
                    <a:pt x="10810113" y="46609"/>
                    <a:pt x="10810113" y="104013"/>
                  </a:cubicBezTo>
                  <a:lnTo>
                    <a:pt x="10810113" y="1610614"/>
                  </a:lnTo>
                  <a:cubicBezTo>
                    <a:pt x="10810113" y="1668145"/>
                    <a:pt x="10763504" y="1714627"/>
                    <a:pt x="10706100" y="1714627"/>
                  </a:cubicBezTo>
                  <a:lnTo>
                    <a:pt x="104013" y="1714627"/>
                  </a:lnTo>
                  <a:cubicBezTo>
                    <a:pt x="46482" y="1714627"/>
                    <a:pt x="0" y="1668018"/>
                    <a:pt x="0" y="1610614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9404718" y="2061991"/>
            <a:ext cx="7710221" cy="29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-5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Large Language Models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04718" y="2412473"/>
            <a:ext cx="7710221" cy="547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8293" indent="-129146" lvl="1">
              <a:lnSpc>
                <a:spcPts val="1882"/>
              </a:lnSpc>
              <a:buFont typeface="Arial"/>
              <a:buChar char="•"/>
            </a:pPr>
            <a:r>
              <a:rPr lang="en-US" sz="1426" spc="-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GPT-3 (2020)</a:t>
            </a:r>
          </a:p>
          <a:p>
            <a:pPr algn="l" marL="258293" indent="-129146" lvl="1">
              <a:lnSpc>
                <a:spcPts val="1882"/>
              </a:lnSpc>
              <a:buFont typeface="Arial"/>
              <a:buChar char="•"/>
            </a:pPr>
            <a:r>
              <a:rPr lang="en-US" sz="1426" spc="-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Prompting Methods Survey (2021)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88219" y="3269037"/>
            <a:ext cx="8107594" cy="1571215"/>
            <a:chOff x="0" y="0"/>
            <a:chExt cx="10810126" cy="20949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10113" cy="2094992"/>
            </a:xfrm>
            <a:custGeom>
              <a:avLst/>
              <a:gdLst/>
              <a:ahLst/>
              <a:cxnLst/>
              <a:rect r="r" b="b" t="t" l="l"/>
              <a:pathLst>
                <a:path h="2094992" w="10810113">
                  <a:moveTo>
                    <a:pt x="0" y="103886"/>
                  </a:moveTo>
                  <a:cubicBezTo>
                    <a:pt x="0" y="46482"/>
                    <a:pt x="46482" y="0"/>
                    <a:pt x="103886" y="0"/>
                  </a:cubicBezTo>
                  <a:lnTo>
                    <a:pt x="10706227" y="0"/>
                  </a:lnTo>
                  <a:cubicBezTo>
                    <a:pt x="10763631" y="0"/>
                    <a:pt x="10810113" y="46482"/>
                    <a:pt x="10810113" y="103886"/>
                  </a:cubicBezTo>
                  <a:lnTo>
                    <a:pt x="10810113" y="1991106"/>
                  </a:lnTo>
                  <a:cubicBezTo>
                    <a:pt x="10810113" y="2048510"/>
                    <a:pt x="10763631" y="2094992"/>
                    <a:pt x="10706227" y="2094992"/>
                  </a:cubicBezTo>
                  <a:lnTo>
                    <a:pt x="103886" y="2094992"/>
                  </a:lnTo>
                  <a:cubicBezTo>
                    <a:pt x="46482" y="2094992"/>
                    <a:pt x="0" y="2048510"/>
                    <a:pt x="0" y="1991106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186910" y="3458204"/>
            <a:ext cx="7710221" cy="29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-5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Embeddings &amp; Retrieval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6910" y="3808676"/>
            <a:ext cx="7710221" cy="547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8293" indent="-129146" lvl="1">
              <a:lnSpc>
                <a:spcPts val="1882"/>
              </a:lnSpc>
              <a:buFont typeface="Arial"/>
              <a:buChar char="•"/>
            </a:pPr>
            <a:r>
              <a:rPr lang="en-US" sz="1426" spc="-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Sentence-BERT (2019)</a:t>
            </a:r>
          </a:p>
          <a:p>
            <a:pPr algn="l" marL="258293" indent="-129146" lvl="1">
              <a:lnSpc>
                <a:spcPts val="1882"/>
              </a:lnSpc>
              <a:buFont typeface="Arial"/>
              <a:buChar char="•"/>
            </a:pPr>
            <a:r>
              <a:rPr lang="en-US" sz="1426" spc="-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Dense Passage Retrieval (2020)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206027" y="3269037"/>
            <a:ext cx="8107594" cy="1571215"/>
            <a:chOff x="0" y="0"/>
            <a:chExt cx="10810126" cy="209495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10113" cy="2094992"/>
            </a:xfrm>
            <a:custGeom>
              <a:avLst/>
              <a:gdLst/>
              <a:ahLst/>
              <a:cxnLst/>
              <a:rect r="r" b="b" t="t" l="l"/>
              <a:pathLst>
                <a:path h="2094992" w="10810113">
                  <a:moveTo>
                    <a:pt x="0" y="103886"/>
                  </a:moveTo>
                  <a:cubicBezTo>
                    <a:pt x="0" y="46482"/>
                    <a:pt x="46482" y="0"/>
                    <a:pt x="103886" y="0"/>
                  </a:cubicBezTo>
                  <a:lnTo>
                    <a:pt x="10706227" y="0"/>
                  </a:lnTo>
                  <a:cubicBezTo>
                    <a:pt x="10763631" y="0"/>
                    <a:pt x="10810113" y="46482"/>
                    <a:pt x="10810113" y="103886"/>
                  </a:cubicBezTo>
                  <a:lnTo>
                    <a:pt x="10810113" y="1991106"/>
                  </a:lnTo>
                  <a:cubicBezTo>
                    <a:pt x="10810113" y="2048510"/>
                    <a:pt x="10763631" y="2094992"/>
                    <a:pt x="10706227" y="2094992"/>
                  </a:cubicBezTo>
                  <a:lnTo>
                    <a:pt x="103886" y="2094992"/>
                  </a:lnTo>
                  <a:cubicBezTo>
                    <a:pt x="46482" y="2094992"/>
                    <a:pt x="0" y="2048510"/>
                    <a:pt x="0" y="1991106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404718" y="3458204"/>
            <a:ext cx="7710221" cy="29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-5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RAG Foundation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04718" y="3808676"/>
            <a:ext cx="7710221" cy="83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8293" indent="-129146" lvl="1">
              <a:lnSpc>
                <a:spcPts val="1882"/>
              </a:lnSpc>
              <a:buFont typeface="Arial"/>
              <a:buChar char="•"/>
            </a:pPr>
            <a:r>
              <a:rPr lang="en-US" sz="1426" spc="-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RAG (2020)</a:t>
            </a:r>
          </a:p>
          <a:p>
            <a:pPr algn="l" marL="258293" indent="-129146" lvl="1">
              <a:lnSpc>
                <a:spcPts val="1882"/>
              </a:lnSpc>
              <a:buFont typeface="Arial"/>
              <a:buChar char="•"/>
            </a:pPr>
            <a:r>
              <a:rPr lang="en-US" sz="1426" spc="-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Self-RAG (2023)</a:t>
            </a:r>
          </a:p>
          <a:p>
            <a:pPr algn="l" marL="258293" indent="-129146" lvl="1">
              <a:lnSpc>
                <a:spcPts val="1882"/>
              </a:lnSpc>
              <a:buFont typeface="Arial"/>
              <a:buChar char="•"/>
            </a:pPr>
            <a:r>
              <a:rPr lang="en-US" sz="1426" spc="-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RAG Survey (2023)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88219" y="4950466"/>
            <a:ext cx="8107594" cy="1571215"/>
            <a:chOff x="0" y="0"/>
            <a:chExt cx="10810126" cy="209495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810113" cy="2094992"/>
            </a:xfrm>
            <a:custGeom>
              <a:avLst/>
              <a:gdLst/>
              <a:ahLst/>
              <a:cxnLst/>
              <a:rect r="r" b="b" t="t" l="l"/>
              <a:pathLst>
                <a:path h="2094992" w="10810113">
                  <a:moveTo>
                    <a:pt x="0" y="103886"/>
                  </a:moveTo>
                  <a:cubicBezTo>
                    <a:pt x="0" y="46482"/>
                    <a:pt x="46482" y="0"/>
                    <a:pt x="103886" y="0"/>
                  </a:cubicBezTo>
                  <a:lnTo>
                    <a:pt x="10706227" y="0"/>
                  </a:lnTo>
                  <a:cubicBezTo>
                    <a:pt x="10763631" y="0"/>
                    <a:pt x="10810113" y="46482"/>
                    <a:pt x="10810113" y="103886"/>
                  </a:cubicBezTo>
                  <a:lnTo>
                    <a:pt x="10810113" y="1991106"/>
                  </a:lnTo>
                  <a:cubicBezTo>
                    <a:pt x="10810113" y="2048510"/>
                    <a:pt x="10763631" y="2094992"/>
                    <a:pt x="10706227" y="2094992"/>
                  </a:cubicBezTo>
                  <a:lnTo>
                    <a:pt x="103886" y="2094992"/>
                  </a:lnTo>
                  <a:cubicBezTo>
                    <a:pt x="46482" y="2094992"/>
                    <a:pt x="0" y="2048510"/>
                    <a:pt x="0" y="1991106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186910" y="5139633"/>
            <a:ext cx="7710221" cy="29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-5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Reasoning &amp; Agents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86910" y="5490105"/>
            <a:ext cx="7710221" cy="83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8293" indent="-129146" lvl="1">
              <a:lnSpc>
                <a:spcPts val="1882"/>
              </a:lnSpc>
              <a:buFont typeface="Arial"/>
              <a:buChar char="•"/>
            </a:pPr>
            <a:r>
              <a:rPr lang="en-US" sz="1426" spc="-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Chain-of-Thought (2022)</a:t>
            </a:r>
          </a:p>
          <a:p>
            <a:pPr algn="l" marL="258293" indent="-129146" lvl="1">
              <a:lnSpc>
                <a:spcPts val="1882"/>
              </a:lnSpc>
              <a:buFont typeface="Arial"/>
              <a:buChar char="•"/>
            </a:pPr>
            <a:r>
              <a:rPr lang="en-US" sz="1426" spc="-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ReAct (2022)</a:t>
            </a:r>
          </a:p>
          <a:p>
            <a:pPr algn="l" marL="258293" indent="-129146" lvl="1">
              <a:lnSpc>
                <a:spcPts val="1882"/>
              </a:lnSpc>
              <a:buFont typeface="Arial"/>
              <a:buChar char="•"/>
            </a:pPr>
            <a:r>
              <a:rPr lang="en-US" sz="1426" spc="-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Toolformer (2023)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206027" y="4950466"/>
            <a:ext cx="8107594" cy="1571215"/>
            <a:chOff x="0" y="0"/>
            <a:chExt cx="10810126" cy="209495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810113" cy="2094992"/>
            </a:xfrm>
            <a:custGeom>
              <a:avLst/>
              <a:gdLst/>
              <a:ahLst/>
              <a:cxnLst/>
              <a:rect r="r" b="b" t="t" l="l"/>
              <a:pathLst>
                <a:path h="2094992" w="10810113">
                  <a:moveTo>
                    <a:pt x="0" y="103886"/>
                  </a:moveTo>
                  <a:cubicBezTo>
                    <a:pt x="0" y="46482"/>
                    <a:pt x="46482" y="0"/>
                    <a:pt x="103886" y="0"/>
                  </a:cubicBezTo>
                  <a:lnTo>
                    <a:pt x="10706227" y="0"/>
                  </a:lnTo>
                  <a:cubicBezTo>
                    <a:pt x="10763631" y="0"/>
                    <a:pt x="10810113" y="46482"/>
                    <a:pt x="10810113" y="103886"/>
                  </a:cubicBezTo>
                  <a:lnTo>
                    <a:pt x="10810113" y="1991106"/>
                  </a:lnTo>
                  <a:cubicBezTo>
                    <a:pt x="10810113" y="2048510"/>
                    <a:pt x="10763631" y="2094992"/>
                    <a:pt x="10706227" y="2094992"/>
                  </a:cubicBezTo>
                  <a:lnTo>
                    <a:pt x="103886" y="2094992"/>
                  </a:lnTo>
                  <a:cubicBezTo>
                    <a:pt x="46482" y="2094992"/>
                    <a:pt x="0" y="2048510"/>
                    <a:pt x="0" y="1991106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9404718" y="5139633"/>
            <a:ext cx="7710221" cy="29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-5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Advanced Topics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04718" y="5490105"/>
            <a:ext cx="7710221" cy="83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8293" indent="-129146" lvl="1">
              <a:lnSpc>
                <a:spcPts val="1882"/>
              </a:lnSpc>
              <a:buFont typeface="Arial"/>
              <a:buChar char="•"/>
            </a:pPr>
            <a:r>
              <a:rPr lang="en-US" sz="1426" spc="-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Lost in the Middle (2023)</a:t>
            </a:r>
          </a:p>
          <a:p>
            <a:pPr algn="l" marL="258293" indent="-129146" lvl="1">
              <a:lnSpc>
                <a:spcPts val="1882"/>
              </a:lnSpc>
              <a:buFont typeface="Arial"/>
              <a:buChar char="•"/>
            </a:pPr>
            <a:r>
              <a:rPr lang="en-US" sz="1426" spc="-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RAGAS Evaluation (2023)</a:t>
            </a:r>
          </a:p>
          <a:p>
            <a:pPr algn="l" marL="258293" indent="-129146" lvl="1">
              <a:lnSpc>
                <a:spcPts val="1882"/>
              </a:lnSpc>
              <a:buFont typeface="Arial"/>
              <a:buChar char="•"/>
            </a:pPr>
            <a:r>
              <a:rPr lang="en-US" sz="1426" spc="-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Hallucination Survey (2023)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407482" y="6829635"/>
            <a:ext cx="5253885" cy="52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9"/>
              </a:lnSpc>
            </a:pPr>
            <a:r>
              <a:rPr lang="en-US" b="true" sz="4728" spc="-14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2991" y="7524979"/>
            <a:ext cx="8083020" cy="29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8"/>
              </a:lnSpc>
            </a:pPr>
            <a:r>
              <a:rPr lang="en-US" b="true" sz="1801" spc="-5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Landmark Papers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640330" y="6829635"/>
            <a:ext cx="5253885" cy="52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9"/>
              </a:lnSpc>
            </a:pPr>
            <a:r>
              <a:rPr lang="en-US" b="true" sz="4728" spc="-14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423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225839" y="7524979"/>
            <a:ext cx="8083020" cy="29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8"/>
              </a:lnSpc>
            </a:pPr>
            <a:r>
              <a:rPr lang="en-US" b="true" sz="1801" spc="-5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Total Pages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407482" y="8240287"/>
            <a:ext cx="5253885" cy="52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9"/>
              </a:lnSpc>
            </a:pPr>
            <a:r>
              <a:rPr lang="en-US" b="true" sz="4728" spc="-14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2,247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92991" y="8935631"/>
            <a:ext cx="8083020" cy="29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8"/>
              </a:lnSpc>
            </a:pPr>
            <a:r>
              <a:rPr lang="en-US" b="true" sz="1801" spc="-5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Semantic Chunks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640330" y="8240287"/>
            <a:ext cx="5253885" cy="52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9"/>
              </a:lnSpc>
            </a:pPr>
            <a:r>
              <a:rPr lang="en-US" b="true" sz="4728" spc="-14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6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225839" y="8935631"/>
            <a:ext cx="8083020" cy="29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8"/>
              </a:lnSpc>
            </a:pPr>
            <a:r>
              <a:rPr lang="en-US" b="true" sz="1801" spc="-5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Research Categories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92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84660"/>
            <a:ext cx="16315868" cy="91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b="true" sz="5554" spc="-16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Document Ingestion &amp; Page-Level Metadata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53455" y="2444629"/>
            <a:ext cx="10241909" cy="4687433"/>
            <a:chOff x="0" y="0"/>
            <a:chExt cx="13655878" cy="6249911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655929" cy="6249924"/>
            </a:xfrm>
            <a:custGeom>
              <a:avLst/>
              <a:gdLst/>
              <a:ahLst/>
              <a:cxnLst/>
              <a:rect r="r" b="b" t="t" l="l"/>
              <a:pathLst>
                <a:path h="6249924" w="13655929">
                  <a:moveTo>
                    <a:pt x="0" y="0"/>
                  </a:moveTo>
                  <a:lnTo>
                    <a:pt x="13655929" y="0"/>
                  </a:lnTo>
                  <a:lnTo>
                    <a:pt x="13655929" y="6249924"/>
                  </a:lnTo>
                  <a:lnTo>
                    <a:pt x="0" y="6249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895693" y="5629475"/>
            <a:ext cx="1922812" cy="1130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</a:pPr>
            <a:r>
              <a:rPr lang="en-US" b="true" sz="2326" spc="-7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2,247 Indexed Chunks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72428" y="5814679"/>
            <a:ext cx="1922812" cy="759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</a:pPr>
            <a:r>
              <a:rPr lang="en-US" b="true" sz="2326" spc="-7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Metadata Attachment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62327" y="5814679"/>
            <a:ext cx="1922812" cy="759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</a:pPr>
            <a:r>
              <a:rPr lang="en-US" b="true" sz="2326" spc="-7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Semantic Chunking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99543" y="5814679"/>
            <a:ext cx="1922812" cy="759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</a:pPr>
            <a:r>
              <a:rPr lang="en-US" b="true" sz="2326" spc="-7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PDF Extraction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57793" y="3511982"/>
            <a:ext cx="5260438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Why Page Metadata Matters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57793" y="4181827"/>
            <a:ext cx="5260438" cy="1892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Exact page identification in final citations — no guessing or inference. Every chunk carries its full provenance from the moment of ingestion.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73922" y="7751369"/>
            <a:ext cx="5287547" cy="1749352"/>
            <a:chOff x="0" y="0"/>
            <a:chExt cx="7050062" cy="233246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50024" cy="2332482"/>
            </a:xfrm>
            <a:custGeom>
              <a:avLst/>
              <a:gdLst/>
              <a:ahLst/>
              <a:cxnLst/>
              <a:rect r="r" b="b" t="t" l="l"/>
              <a:pathLst>
                <a:path h="2332482" w="7050024">
                  <a:moveTo>
                    <a:pt x="0" y="162433"/>
                  </a:moveTo>
                  <a:cubicBezTo>
                    <a:pt x="0" y="72771"/>
                    <a:pt x="72771" y="0"/>
                    <a:pt x="162433" y="0"/>
                  </a:cubicBezTo>
                  <a:lnTo>
                    <a:pt x="6887591" y="0"/>
                  </a:lnTo>
                  <a:cubicBezTo>
                    <a:pt x="6977253" y="0"/>
                    <a:pt x="7050024" y="72771"/>
                    <a:pt x="7050024" y="162433"/>
                  </a:cubicBezTo>
                  <a:lnTo>
                    <a:pt x="7050024" y="2170049"/>
                  </a:lnTo>
                  <a:cubicBezTo>
                    <a:pt x="7050024" y="2259711"/>
                    <a:pt x="6977253" y="2332482"/>
                    <a:pt x="6887591" y="2332482"/>
                  </a:cubicBezTo>
                  <a:lnTo>
                    <a:pt x="162433" y="2332482"/>
                  </a:lnTo>
                  <a:cubicBezTo>
                    <a:pt x="72771" y="2332482"/>
                    <a:pt x="0" y="2259711"/>
                    <a:pt x="0" y="2170049"/>
                  </a:cubicBezTo>
                  <a:close/>
                </a:path>
              </a:pathLst>
            </a:custGeom>
            <a:solidFill>
              <a:srgbClr val="FFFFFF"/>
            </a:solidFill>
            <a:ln w="38128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314850" y="8073257"/>
            <a:ext cx="4605699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Chunk Size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4850" y="8629602"/>
            <a:ext cx="4605699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b="true" sz="2176" spc="-4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1,000 characters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507070" y="7751369"/>
            <a:ext cx="5287547" cy="1749352"/>
            <a:chOff x="0" y="0"/>
            <a:chExt cx="7050062" cy="233246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50024" cy="2332482"/>
            </a:xfrm>
            <a:custGeom>
              <a:avLst/>
              <a:gdLst/>
              <a:ahLst/>
              <a:cxnLst/>
              <a:rect r="r" b="b" t="t" l="l"/>
              <a:pathLst>
                <a:path h="2332482" w="7050024">
                  <a:moveTo>
                    <a:pt x="0" y="162433"/>
                  </a:moveTo>
                  <a:cubicBezTo>
                    <a:pt x="0" y="72771"/>
                    <a:pt x="72771" y="0"/>
                    <a:pt x="162433" y="0"/>
                  </a:cubicBezTo>
                  <a:lnTo>
                    <a:pt x="6887591" y="0"/>
                  </a:lnTo>
                  <a:cubicBezTo>
                    <a:pt x="6977253" y="0"/>
                    <a:pt x="7050024" y="72771"/>
                    <a:pt x="7050024" y="162433"/>
                  </a:cubicBezTo>
                  <a:lnTo>
                    <a:pt x="7050024" y="2170049"/>
                  </a:lnTo>
                  <a:cubicBezTo>
                    <a:pt x="7050024" y="2259711"/>
                    <a:pt x="6977253" y="2332482"/>
                    <a:pt x="6887591" y="2332482"/>
                  </a:cubicBezTo>
                  <a:lnTo>
                    <a:pt x="162433" y="2332482"/>
                  </a:lnTo>
                  <a:cubicBezTo>
                    <a:pt x="72771" y="2332482"/>
                    <a:pt x="0" y="2259711"/>
                    <a:pt x="0" y="2170049"/>
                  </a:cubicBezTo>
                  <a:close/>
                </a:path>
              </a:pathLst>
            </a:custGeom>
            <a:solidFill>
              <a:srgbClr val="FFFFFF"/>
            </a:solidFill>
            <a:ln w="38128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6847999" y="8073257"/>
            <a:ext cx="4605699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Overlap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47999" y="8629602"/>
            <a:ext cx="4605699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b="true" sz="2176" spc="-4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150 characters (~15%)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40219" y="7751369"/>
            <a:ext cx="5287547" cy="1749352"/>
            <a:chOff x="0" y="0"/>
            <a:chExt cx="7050062" cy="233246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50024" cy="2332482"/>
            </a:xfrm>
            <a:custGeom>
              <a:avLst/>
              <a:gdLst/>
              <a:ahLst/>
              <a:cxnLst/>
              <a:rect r="r" b="b" t="t" l="l"/>
              <a:pathLst>
                <a:path h="2332482" w="7050024">
                  <a:moveTo>
                    <a:pt x="0" y="162433"/>
                  </a:moveTo>
                  <a:cubicBezTo>
                    <a:pt x="0" y="72771"/>
                    <a:pt x="72771" y="0"/>
                    <a:pt x="162433" y="0"/>
                  </a:cubicBezTo>
                  <a:lnTo>
                    <a:pt x="6887591" y="0"/>
                  </a:lnTo>
                  <a:cubicBezTo>
                    <a:pt x="6977253" y="0"/>
                    <a:pt x="7050024" y="72771"/>
                    <a:pt x="7050024" y="162433"/>
                  </a:cubicBezTo>
                  <a:lnTo>
                    <a:pt x="7050024" y="2170049"/>
                  </a:lnTo>
                  <a:cubicBezTo>
                    <a:pt x="7050024" y="2259711"/>
                    <a:pt x="6977253" y="2332482"/>
                    <a:pt x="6887591" y="2332482"/>
                  </a:cubicBezTo>
                  <a:lnTo>
                    <a:pt x="162433" y="2332482"/>
                  </a:lnTo>
                  <a:cubicBezTo>
                    <a:pt x="72771" y="2332482"/>
                    <a:pt x="0" y="2259711"/>
                    <a:pt x="0" y="2170049"/>
                  </a:cubicBezTo>
                  <a:close/>
                </a:path>
              </a:pathLst>
            </a:custGeom>
            <a:solidFill>
              <a:srgbClr val="FFFFFF"/>
            </a:solidFill>
            <a:ln w="38128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2381147" y="8073257"/>
            <a:ext cx="4605699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Total Output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81147" y="8629602"/>
            <a:ext cx="4605699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b="true" sz="2176" spc="-4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2,247 chunks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020442"/>
            <a:ext cx="16315868" cy="162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b="true" sz="4953" spc="-15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Embedding Experimentation: Open-Source vs. Commercial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58252" y="3730314"/>
            <a:ext cx="4774892" cy="4775016"/>
            <a:chOff x="0" y="0"/>
            <a:chExt cx="6366523" cy="636668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6366510" cy="6366637"/>
            </a:xfrm>
            <a:custGeom>
              <a:avLst/>
              <a:gdLst/>
              <a:ahLst/>
              <a:cxnLst/>
              <a:rect r="r" b="b" t="t" l="l"/>
              <a:pathLst>
                <a:path h="6366637" w="6366510">
                  <a:moveTo>
                    <a:pt x="0" y="0"/>
                  </a:moveTo>
                  <a:lnTo>
                    <a:pt x="6366510" y="0"/>
                  </a:lnTo>
                  <a:lnTo>
                    <a:pt x="6366510" y="6366637"/>
                  </a:lnTo>
                  <a:lnTo>
                    <a:pt x="0" y="6366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6930958" y="3248331"/>
          <a:ext cx="10352238" cy="4118017"/>
        </p:xfrm>
        <a:graphic>
          <a:graphicData uri="http://schemas.openxmlformats.org/drawingml/2006/table">
            <a:tbl>
              <a:tblPr/>
              <a:tblGrid>
                <a:gridCol w="3450746"/>
                <a:gridCol w="3450746"/>
                <a:gridCol w="3450746"/>
              </a:tblGrid>
              <a:tr h="6833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b="true" sz="1951" spc="-40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Attribute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b="true" sz="1951" spc="-40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Model A — Selected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b="true" sz="1951" spc="-40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Model B — Benchmark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78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spc="-4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spc="-4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all-MiniLM-L6-v2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spc="-4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text-embedding-3-small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78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spc="-4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Dimensions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b="true" sz="1951" spc="-40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384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spc="-4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1,536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78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spc="-4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Latency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b="true" sz="1951" spc="-40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&lt;2ms / chunk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spc="-4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80–150ms / chunk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78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spc="-4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Cost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b="true" sz="1951" spc="-40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Zero (local)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spc="-4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$0.02 / 1M tokens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33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spc="-4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Deployment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spc="-4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CPU / GPU offline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spc="-4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Remote API</a:t>
                      </a:r>
                      <a:endParaRPr lang="en-US" sz="1100"/>
                    </a:p>
                  </a:txBody>
                  <a:tcPr marL="170117" marR="170117" marT="170117" marB="170117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0" id="10"/>
          <p:cNvGrpSpPr/>
          <p:nvPr/>
        </p:nvGrpSpPr>
        <p:grpSpPr>
          <a:xfrm rot="0">
            <a:off x="6930962" y="7670197"/>
            <a:ext cx="10387279" cy="1317269"/>
            <a:chOff x="0" y="0"/>
            <a:chExt cx="13849706" cy="17563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849731" cy="1756410"/>
            </a:xfrm>
            <a:custGeom>
              <a:avLst/>
              <a:gdLst/>
              <a:ahLst/>
              <a:cxnLst/>
              <a:rect r="r" b="b" t="t" l="l"/>
              <a:pathLst>
                <a:path h="1756410" w="13849731">
                  <a:moveTo>
                    <a:pt x="0" y="143002"/>
                  </a:moveTo>
                  <a:cubicBezTo>
                    <a:pt x="0" y="64008"/>
                    <a:pt x="64008" y="0"/>
                    <a:pt x="143002" y="0"/>
                  </a:cubicBezTo>
                  <a:lnTo>
                    <a:pt x="13706729" y="0"/>
                  </a:lnTo>
                  <a:cubicBezTo>
                    <a:pt x="13785723" y="0"/>
                    <a:pt x="13849731" y="64008"/>
                    <a:pt x="13849731" y="143002"/>
                  </a:cubicBezTo>
                  <a:lnTo>
                    <a:pt x="13849731" y="1613408"/>
                  </a:lnTo>
                  <a:cubicBezTo>
                    <a:pt x="13849731" y="1692402"/>
                    <a:pt x="13785723" y="1756410"/>
                    <a:pt x="13706729" y="1756410"/>
                  </a:cubicBezTo>
                  <a:lnTo>
                    <a:pt x="143002" y="1756410"/>
                  </a:lnTo>
                  <a:cubicBezTo>
                    <a:pt x="64008" y="1756410"/>
                    <a:pt x="0" y="1692275"/>
                    <a:pt x="0" y="1613408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186241" y="8026317"/>
            <a:ext cx="319183" cy="255289"/>
            <a:chOff x="0" y="0"/>
            <a:chExt cx="425577" cy="340385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425577" cy="340360"/>
            </a:xfrm>
            <a:custGeom>
              <a:avLst/>
              <a:gdLst/>
              <a:ahLst/>
              <a:cxnLst/>
              <a:rect r="r" b="b" t="t" l="l"/>
              <a:pathLst>
                <a:path h="340360" w="425577">
                  <a:moveTo>
                    <a:pt x="0" y="0"/>
                  </a:moveTo>
                  <a:lnTo>
                    <a:pt x="425577" y="0"/>
                  </a:lnTo>
                  <a:lnTo>
                    <a:pt x="425577" y="340360"/>
                  </a:lnTo>
                  <a:lnTo>
                    <a:pt x="0" y="340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61" t="0" r="-358" b="-7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760703" y="7874003"/>
            <a:ext cx="9302248" cy="842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 spc="-4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 A selected for ultra-fast inference, offline resilience, and full reproducibility — critical for academic deployment.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193" y="704212"/>
            <a:ext cx="6664804" cy="8886625"/>
            <a:chOff x="0" y="0"/>
            <a:chExt cx="8886406" cy="11848833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886444" cy="11848846"/>
            </a:xfrm>
            <a:custGeom>
              <a:avLst/>
              <a:gdLst/>
              <a:ahLst/>
              <a:cxnLst/>
              <a:rect r="r" b="b" t="t" l="l"/>
              <a:pathLst>
                <a:path h="11848846" w="8886444">
                  <a:moveTo>
                    <a:pt x="0" y="0"/>
                  </a:moveTo>
                  <a:lnTo>
                    <a:pt x="8886444" y="0"/>
                  </a:lnTo>
                  <a:lnTo>
                    <a:pt x="8886444" y="11848846"/>
                  </a:lnTo>
                  <a:lnTo>
                    <a:pt x="0" y="11848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6182" y="1069438"/>
            <a:ext cx="9452677" cy="639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b="true" sz="3903" spc="-11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Vector Database Architecture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7856182" y="1917659"/>
            <a:ext cx="496424" cy="496433"/>
          </a:xfrm>
          <a:custGeom>
            <a:avLst/>
            <a:gdLst/>
            <a:ahLst/>
            <a:cxnLst/>
            <a:rect r="r" b="b" t="t" l="l"/>
            <a:pathLst>
              <a:path h="496433" w="496424">
                <a:moveTo>
                  <a:pt x="0" y="0"/>
                </a:moveTo>
                <a:lnTo>
                  <a:pt x="496424" y="0"/>
                </a:lnTo>
                <a:lnTo>
                  <a:pt x="496424" y="496433"/>
                </a:lnTo>
                <a:lnTo>
                  <a:pt x="0" y="4964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772" r="0" b="-3772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856182" y="2568712"/>
            <a:ext cx="9452677" cy="32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b="true" sz="1951" spc="-5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Engine &amp; Backend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56182" y="2952845"/>
            <a:ext cx="9452677" cy="57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ChromaDB with persistent disk backend at vectorstore/chroma_db/ — instant cold-start loading without re-indexing across sessions.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7856182" y="3809400"/>
            <a:ext cx="496424" cy="496433"/>
          </a:xfrm>
          <a:custGeom>
            <a:avLst/>
            <a:gdLst/>
            <a:ahLst/>
            <a:cxnLst/>
            <a:rect r="r" b="b" t="t" l="l"/>
            <a:pathLst>
              <a:path h="496433" w="496424">
                <a:moveTo>
                  <a:pt x="0" y="0"/>
                </a:moveTo>
                <a:lnTo>
                  <a:pt x="496424" y="0"/>
                </a:lnTo>
                <a:lnTo>
                  <a:pt x="496424" y="496433"/>
                </a:lnTo>
                <a:lnTo>
                  <a:pt x="0" y="4964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774" t="0" r="-3774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856182" y="4460453"/>
            <a:ext cx="9452677" cy="32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b="true" sz="1951" spc="-5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Collection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56182" y="4816011"/>
            <a:ext cx="9452677" cy="616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 spc="-31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papers_opensource — </a:t>
            </a:r>
            <a:r>
              <a:rPr lang="en-US" b="true" sz="1501" spc="-31">
                <a:solidFill>
                  <a:srgbClr val="272525"/>
                </a:solidFill>
                <a:latin typeface="Consolas Bold"/>
                <a:ea typeface="Consolas Bold"/>
                <a:cs typeface="Consolas Bold"/>
                <a:sym typeface="Consolas Bold"/>
              </a:rPr>
              <a:t>2,247 indexed vectors</a:t>
            </a:r>
            <a:r>
              <a:rPr lang="en-US" sz="1501" spc="-31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with full metadata schema: paper_id, title, page, category, year, chunk_text.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7856182" y="5710685"/>
            <a:ext cx="496424" cy="496433"/>
          </a:xfrm>
          <a:custGeom>
            <a:avLst/>
            <a:gdLst/>
            <a:ahLst/>
            <a:cxnLst/>
            <a:rect r="r" b="b" t="t" l="l"/>
            <a:pathLst>
              <a:path h="496433" w="496424">
                <a:moveTo>
                  <a:pt x="0" y="0"/>
                </a:moveTo>
                <a:lnTo>
                  <a:pt x="496424" y="0"/>
                </a:lnTo>
                <a:lnTo>
                  <a:pt x="496424" y="496434"/>
                </a:lnTo>
                <a:lnTo>
                  <a:pt x="0" y="4964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856182" y="6361728"/>
            <a:ext cx="9452677" cy="32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b="true" sz="1951" spc="-5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Distance Metric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56182" y="6745862"/>
            <a:ext cx="9452677" cy="56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b="true" sz="1501" spc="-3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Cosine Distance:</a:t>
            </a: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1 − (u·v) / (‖u‖₂ ‖v‖₂) — measures angular similarity between query and chunk embeddings in 384-dimensional space.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7856182" y="7592892"/>
            <a:ext cx="496424" cy="496433"/>
          </a:xfrm>
          <a:custGeom>
            <a:avLst/>
            <a:gdLst/>
            <a:ahLst/>
            <a:cxnLst/>
            <a:rect r="r" b="b" t="t" l="l"/>
            <a:pathLst>
              <a:path h="496433" w="496424">
                <a:moveTo>
                  <a:pt x="0" y="0"/>
                </a:moveTo>
                <a:lnTo>
                  <a:pt x="496424" y="0"/>
                </a:lnTo>
                <a:lnTo>
                  <a:pt x="496424" y="496433"/>
                </a:lnTo>
                <a:lnTo>
                  <a:pt x="0" y="4964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3772" r="0" b="-3772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856182" y="8243945"/>
            <a:ext cx="9452677" cy="32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b="true" sz="1951" spc="-5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Deterministic IDs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56182" y="8628078"/>
            <a:ext cx="9452677" cy="57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Format: {paper_id}_p{page}_c{chunk_idx} — guarantees reproducible retrieval and exact citation traceability across all sessions.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163126"/>
            <a:ext cx="16315868" cy="91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b="true" sz="5554" spc="-16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Retrieval Experimentation: Four Paradigms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2645854"/>
            <a:ext cx="8157934" cy="1134961"/>
            <a:chOff x="0" y="0"/>
            <a:chExt cx="10877245" cy="1513281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877296" cy="1513332"/>
            </a:xfrm>
            <a:custGeom>
              <a:avLst/>
              <a:gdLst/>
              <a:ahLst/>
              <a:cxnLst/>
              <a:rect r="r" b="b" t="t" l="l"/>
              <a:pathLst>
                <a:path h="1513332" w="10877296">
                  <a:moveTo>
                    <a:pt x="0" y="0"/>
                  </a:moveTo>
                  <a:lnTo>
                    <a:pt x="10877296" y="0"/>
                  </a:lnTo>
                  <a:lnTo>
                    <a:pt x="10877296" y="1513332"/>
                  </a:lnTo>
                  <a:lnTo>
                    <a:pt x="0" y="1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2" r="0" b="-37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76721" y="4045496"/>
            <a:ext cx="7590472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Dense Cosine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6721" y="4601851"/>
            <a:ext cx="7590472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Pure vector similarity in 384-dimensional space. Fast and semantically rich.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50925" y="2645854"/>
            <a:ext cx="8157934" cy="1134961"/>
            <a:chOff x="0" y="0"/>
            <a:chExt cx="10877245" cy="1513281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0877296" cy="1513332"/>
            </a:xfrm>
            <a:custGeom>
              <a:avLst/>
              <a:gdLst/>
              <a:ahLst/>
              <a:cxnLst/>
              <a:rect r="r" b="b" t="t" l="l"/>
              <a:pathLst>
                <a:path h="1513332" w="10877296">
                  <a:moveTo>
                    <a:pt x="0" y="0"/>
                  </a:moveTo>
                  <a:lnTo>
                    <a:pt x="10877296" y="0"/>
                  </a:lnTo>
                  <a:lnTo>
                    <a:pt x="10877296" y="1513332"/>
                  </a:lnTo>
                  <a:lnTo>
                    <a:pt x="0" y="1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82" r="0" b="-37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434655" y="4045496"/>
            <a:ext cx="7590472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MMR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34655" y="4601851"/>
            <a:ext cx="7590472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Maximal Marginal Relevance — penalizes redundancy with λ=0.7 balance parameter for diverse result sets.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2991" y="5869753"/>
            <a:ext cx="8157934" cy="1134961"/>
            <a:chOff x="0" y="0"/>
            <a:chExt cx="10877245" cy="1513281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0877296" cy="1513332"/>
            </a:xfrm>
            <a:custGeom>
              <a:avLst/>
              <a:gdLst/>
              <a:ahLst/>
              <a:cxnLst/>
              <a:rect r="r" b="b" t="t" l="l"/>
              <a:pathLst>
                <a:path h="1513332" w="10877296">
                  <a:moveTo>
                    <a:pt x="0" y="0"/>
                  </a:moveTo>
                  <a:lnTo>
                    <a:pt x="10877296" y="0"/>
                  </a:lnTo>
                  <a:lnTo>
                    <a:pt x="10877296" y="1513332"/>
                  </a:lnTo>
                  <a:lnTo>
                    <a:pt x="0" y="1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82" r="0" b="-378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76721" y="7269404"/>
            <a:ext cx="7590472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Hybrid Search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6721" y="7825750"/>
            <a:ext cx="7590472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BM25Okapi lexical + Dense semantic fused via </a:t>
            </a:r>
            <a:r>
              <a:rPr lang="en-US" b="true" sz="2176" spc="-4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Reciprocal Rank Fusion (k=60)</a:t>
            </a: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for combined recall.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150925" y="5869753"/>
            <a:ext cx="8157934" cy="1134961"/>
            <a:chOff x="0" y="0"/>
            <a:chExt cx="10877245" cy="1513281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0877296" cy="1513332"/>
            </a:xfrm>
            <a:custGeom>
              <a:avLst/>
              <a:gdLst/>
              <a:ahLst/>
              <a:cxnLst/>
              <a:rect r="r" b="b" t="t" l="l"/>
              <a:pathLst>
                <a:path h="1513332" w="10877296">
                  <a:moveTo>
                    <a:pt x="0" y="0"/>
                  </a:moveTo>
                  <a:lnTo>
                    <a:pt x="10877296" y="0"/>
                  </a:lnTo>
                  <a:lnTo>
                    <a:pt x="10877296" y="1513332"/>
                  </a:lnTo>
                  <a:lnTo>
                    <a:pt x="0" y="1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82" r="0" b="-378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434655" y="7269404"/>
            <a:ext cx="7590472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b="true" sz="2777" spc="-8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Two-Stage Reranking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34655" y="7825750"/>
            <a:ext cx="7590472" cy="99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Hybrid top-15 → Cross-Encoder (ms-marco-MiniLM-L-6-v2) → Top-3 final chunks with surgical precision.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136771"/>
            <a:ext cx="16315868" cy="78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b="true" sz="4728" spc="-14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Retrieval Benchmark Results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281266"/>
            <a:ext cx="17230954" cy="40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 spc="-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Evaluated across </a:t>
            </a:r>
            <a:r>
              <a:rPr lang="en-US" b="true" sz="1876" spc="-3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10 canonical gold-standard research queries</a:t>
            </a:r>
            <a:r>
              <a:rPr lang="en-US" sz="1876" spc="-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 All three leading strategies achieve Hit@3 = 100% and MRR = 0.95.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991" y="3146898"/>
            <a:ext cx="6684169" cy="4811354"/>
            <a:chOff x="0" y="0"/>
            <a:chExt cx="8912225" cy="641513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912225" cy="6415151"/>
            </a:xfrm>
            <a:custGeom>
              <a:avLst/>
              <a:gdLst/>
              <a:ahLst/>
              <a:cxnLst/>
              <a:rect r="r" b="b" t="t" l="l"/>
              <a:pathLst>
                <a:path h="6415151" w="8912225">
                  <a:moveTo>
                    <a:pt x="0" y="0"/>
                  </a:moveTo>
                  <a:lnTo>
                    <a:pt x="8912225" y="0"/>
                  </a:lnTo>
                  <a:lnTo>
                    <a:pt x="8912225" y="6415151"/>
                  </a:lnTo>
                  <a:lnTo>
                    <a:pt x="0" y="64151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" t="0" r="-30" b="0"/>
              </a:stretch>
            </a:blipFill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9454610" y="3146900"/>
          <a:ext cx="7854737" cy="3889238"/>
        </p:xfrm>
        <a:graphic>
          <a:graphicData uri="http://schemas.openxmlformats.org/drawingml/2006/table">
            <a:tbl>
              <a:tblPr/>
              <a:tblGrid>
                <a:gridCol w="1963684"/>
                <a:gridCol w="1963684"/>
                <a:gridCol w="1963684"/>
                <a:gridCol w="1963684"/>
              </a:tblGrid>
              <a:tr h="6311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b="true" sz="1876" spc="-37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Method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b="true" sz="1876" spc="-37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Hit@1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b="true" sz="1876" spc="-37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Hit@3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b="true" sz="1876" spc="-37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MRR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45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spc="-37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Dense Cosine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spc="-37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90%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spc="-37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100%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spc="-37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0.95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45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spc="-37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Hybrid Search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spc="-37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90%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spc="-37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100%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spc="-37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0.95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89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b="true" sz="1876" spc="-37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Hybrid + Cross-Encoder ✓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b="true" sz="1876" spc="-37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90%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b="true" sz="1876" spc="-37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100%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b="true" sz="1876" spc="-37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0.95</a:t>
                      </a:r>
                      <a:endParaRPr lang="en-US" sz="1100"/>
                    </a:p>
                  </a:txBody>
                  <a:tcPr marL="160666" marR="160666" marT="160666" marB="160666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9454610" y="7339384"/>
            <a:ext cx="7863773" cy="1559747"/>
            <a:chOff x="0" y="0"/>
            <a:chExt cx="10485031" cy="20796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85120" cy="2079752"/>
            </a:xfrm>
            <a:custGeom>
              <a:avLst/>
              <a:gdLst/>
              <a:ahLst/>
              <a:cxnLst/>
              <a:rect r="r" b="b" t="t" l="l"/>
              <a:pathLst>
                <a:path h="2079752" w="10485120">
                  <a:moveTo>
                    <a:pt x="0" y="135128"/>
                  </a:moveTo>
                  <a:cubicBezTo>
                    <a:pt x="0" y="60452"/>
                    <a:pt x="60452" y="0"/>
                    <a:pt x="135128" y="0"/>
                  </a:cubicBezTo>
                  <a:lnTo>
                    <a:pt x="10349992" y="0"/>
                  </a:lnTo>
                  <a:cubicBezTo>
                    <a:pt x="10424541" y="0"/>
                    <a:pt x="10485120" y="60452"/>
                    <a:pt x="10485120" y="135128"/>
                  </a:cubicBezTo>
                  <a:lnTo>
                    <a:pt x="10485120" y="1944624"/>
                  </a:lnTo>
                  <a:cubicBezTo>
                    <a:pt x="10485120" y="2019173"/>
                    <a:pt x="10424668" y="2079752"/>
                    <a:pt x="10349992" y="2079752"/>
                  </a:cubicBezTo>
                  <a:lnTo>
                    <a:pt x="135128" y="2079752"/>
                  </a:lnTo>
                  <a:cubicBezTo>
                    <a:pt x="60452" y="2079625"/>
                    <a:pt x="0" y="2019173"/>
                    <a:pt x="0" y="1944624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695745" y="7660367"/>
            <a:ext cx="301457" cy="241144"/>
            <a:chOff x="0" y="0"/>
            <a:chExt cx="401942" cy="321526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401955" cy="321564"/>
            </a:xfrm>
            <a:custGeom>
              <a:avLst/>
              <a:gdLst/>
              <a:ahLst/>
              <a:cxnLst/>
              <a:rect r="r" b="b" t="t" l="l"/>
              <a:pathLst>
                <a:path h="321564" w="401955">
                  <a:moveTo>
                    <a:pt x="0" y="0"/>
                  </a:moveTo>
                  <a:lnTo>
                    <a:pt x="401955" y="0"/>
                  </a:lnTo>
                  <a:lnTo>
                    <a:pt x="401955" y="321564"/>
                  </a:lnTo>
                  <a:lnTo>
                    <a:pt x="0" y="321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85" r="3" b="-774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238337" y="7536332"/>
            <a:ext cx="6838912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b="true" sz="1876" spc="-3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Production Selection:</a:t>
            </a:r>
            <a:r>
              <a:rPr lang="en-US" sz="1876" spc="-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Hybrid + Cross-Encoder balances recall robustness with surgical precision reranking. The added latency (~694ms) is acceptable for research Q&amp;A workloads.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903970"/>
            <a:ext cx="16315868" cy="7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b="true" sz="4428" spc="-13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End-to-End RAG Architecture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075614" y="2004946"/>
            <a:ext cx="10150459" cy="4645581"/>
            <a:chOff x="0" y="0"/>
            <a:chExt cx="13533946" cy="619410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534010" cy="6194044"/>
            </a:xfrm>
            <a:custGeom>
              <a:avLst/>
              <a:gdLst/>
              <a:ahLst/>
              <a:cxnLst/>
              <a:rect r="r" b="b" t="t" l="l"/>
              <a:pathLst>
                <a:path h="6194044" w="13534010">
                  <a:moveTo>
                    <a:pt x="0" y="0"/>
                  </a:moveTo>
                  <a:lnTo>
                    <a:pt x="13534010" y="0"/>
                  </a:lnTo>
                  <a:lnTo>
                    <a:pt x="13534010" y="6194044"/>
                  </a:lnTo>
                  <a:lnTo>
                    <a:pt x="0" y="6194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9" r="0" b="-6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847833" y="5528291"/>
            <a:ext cx="1905648" cy="386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b="true" sz="2251" spc="-69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Generation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46190" y="5528291"/>
            <a:ext cx="1905648" cy="386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b="true" sz="2251" spc="-69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Grounding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57615" y="5528291"/>
            <a:ext cx="1905648" cy="386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b="true" sz="2251" spc="-69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Precision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16825" y="5528291"/>
            <a:ext cx="1905648" cy="386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b="true" sz="2251" spc="-69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Recall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88219" y="6849961"/>
            <a:ext cx="16325393" cy="2517162"/>
            <a:chOff x="0" y="0"/>
            <a:chExt cx="21767190" cy="33562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67166" cy="3356229"/>
            </a:xfrm>
            <a:custGeom>
              <a:avLst/>
              <a:gdLst/>
              <a:ahLst/>
              <a:cxnLst/>
              <a:rect r="r" b="b" t="t" l="l"/>
              <a:pathLst>
                <a:path h="3356229" w="21767166">
                  <a:moveTo>
                    <a:pt x="0" y="127635"/>
                  </a:moveTo>
                  <a:cubicBezTo>
                    <a:pt x="0" y="57150"/>
                    <a:pt x="57150" y="0"/>
                    <a:pt x="127635" y="0"/>
                  </a:cubicBezTo>
                  <a:lnTo>
                    <a:pt x="21639530" y="0"/>
                  </a:lnTo>
                  <a:cubicBezTo>
                    <a:pt x="21710016" y="0"/>
                    <a:pt x="21767166" y="57150"/>
                    <a:pt x="21767166" y="127635"/>
                  </a:cubicBezTo>
                  <a:lnTo>
                    <a:pt x="21767166" y="3228594"/>
                  </a:lnTo>
                  <a:cubicBezTo>
                    <a:pt x="21767166" y="3299079"/>
                    <a:pt x="21710016" y="3356229"/>
                    <a:pt x="21639530" y="3356229"/>
                  </a:cubicBezTo>
                  <a:lnTo>
                    <a:pt x="127635" y="3356229"/>
                  </a:lnTo>
                  <a:cubicBezTo>
                    <a:pt x="57150" y="3356229"/>
                    <a:pt x="0" y="3299079"/>
                    <a:pt x="0" y="3228594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02525" y="6864258"/>
            <a:ext cx="8148399" cy="1244279"/>
            <a:chOff x="0" y="0"/>
            <a:chExt cx="10864532" cy="165903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64596" cy="1659001"/>
            </a:xfrm>
            <a:custGeom>
              <a:avLst/>
              <a:gdLst/>
              <a:ahLst/>
              <a:cxnLst/>
              <a:rect r="r" b="b" t="t" l="l"/>
              <a:pathLst>
                <a:path h="1659001" w="10864596">
                  <a:moveTo>
                    <a:pt x="105918" y="0"/>
                  </a:moveTo>
                  <a:lnTo>
                    <a:pt x="10864596" y="0"/>
                  </a:lnTo>
                  <a:lnTo>
                    <a:pt x="10864596" y="1659001"/>
                  </a:lnTo>
                  <a:lnTo>
                    <a:pt x="0" y="1659001"/>
                  </a:lnTo>
                  <a:lnTo>
                    <a:pt x="0" y="105918"/>
                  </a:lnTo>
                  <a:cubicBezTo>
                    <a:pt x="0" y="47371"/>
                    <a:pt x="47371" y="0"/>
                    <a:pt x="105918" y="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29506" y="7081723"/>
            <a:ext cx="7694428" cy="3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Stage 1 — Recall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9506" y="7516663"/>
            <a:ext cx="7694428" cy="36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Hybrid Retrieval via RRF → </a:t>
            </a:r>
            <a:r>
              <a:rPr lang="en-US" b="true" sz="1726" spc="-3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Top-15</a:t>
            </a: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candidates in ~44ms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150925" y="6864258"/>
            <a:ext cx="8148399" cy="1244279"/>
            <a:chOff x="0" y="0"/>
            <a:chExt cx="10864532" cy="165903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64469" cy="1659001"/>
            </a:xfrm>
            <a:custGeom>
              <a:avLst/>
              <a:gdLst/>
              <a:ahLst/>
              <a:cxnLst/>
              <a:rect r="r" b="b" t="t" l="l"/>
              <a:pathLst>
                <a:path h="1659001" w="10864469">
                  <a:moveTo>
                    <a:pt x="0" y="0"/>
                  </a:moveTo>
                  <a:lnTo>
                    <a:pt x="10758551" y="0"/>
                  </a:lnTo>
                  <a:cubicBezTo>
                    <a:pt x="10817098" y="0"/>
                    <a:pt x="10864469" y="47371"/>
                    <a:pt x="10864469" y="105918"/>
                  </a:cubicBezTo>
                  <a:lnTo>
                    <a:pt x="10864469" y="1659001"/>
                  </a:lnTo>
                  <a:lnTo>
                    <a:pt x="0" y="1659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150925" y="6864258"/>
            <a:ext cx="28594" cy="1244279"/>
            <a:chOff x="0" y="0"/>
            <a:chExt cx="38125" cy="165903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100" cy="1659001"/>
            </a:xfrm>
            <a:custGeom>
              <a:avLst/>
              <a:gdLst/>
              <a:ahLst/>
              <a:cxnLst/>
              <a:rect r="r" b="b" t="t" l="l"/>
              <a:pathLst>
                <a:path h="1659001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639951"/>
                  </a:lnTo>
                  <a:cubicBezTo>
                    <a:pt x="38100" y="1650492"/>
                    <a:pt x="29591" y="1659001"/>
                    <a:pt x="19050" y="1659001"/>
                  </a:cubicBezTo>
                  <a:cubicBezTo>
                    <a:pt x="8509" y="1659001"/>
                    <a:pt x="0" y="1650492"/>
                    <a:pt x="0" y="1639951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377905" y="7081723"/>
            <a:ext cx="7694428" cy="3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Stage 2 — Precision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77905" y="7516663"/>
            <a:ext cx="7694428" cy="36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Cross-Encoder reranking → </a:t>
            </a:r>
            <a:r>
              <a:rPr lang="en-US" b="true" sz="1726" spc="-3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Top-3</a:t>
            </a: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highest-relevance passages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02525" y="8108537"/>
            <a:ext cx="8148399" cy="1244279"/>
            <a:chOff x="0" y="0"/>
            <a:chExt cx="10864532" cy="165903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864596" cy="1659001"/>
            </a:xfrm>
            <a:custGeom>
              <a:avLst/>
              <a:gdLst/>
              <a:ahLst/>
              <a:cxnLst/>
              <a:rect r="r" b="b" t="t" l="l"/>
              <a:pathLst>
                <a:path h="1659001" w="10864596">
                  <a:moveTo>
                    <a:pt x="0" y="0"/>
                  </a:moveTo>
                  <a:lnTo>
                    <a:pt x="10864596" y="0"/>
                  </a:lnTo>
                  <a:lnTo>
                    <a:pt x="10864596" y="1659001"/>
                  </a:lnTo>
                  <a:lnTo>
                    <a:pt x="105918" y="1659001"/>
                  </a:lnTo>
                  <a:cubicBezTo>
                    <a:pt x="47371" y="1659001"/>
                    <a:pt x="0" y="1611630"/>
                    <a:pt x="0" y="155308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02525" y="8108537"/>
            <a:ext cx="8148399" cy="28594"/>
            <a:chOff x="0" y="0"/>
            <a:chExt cx="10864532" cy="3812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864469" cy="38100"/>
            </a:xfrm>
            <a:custGeom>
              <a:avLst/>
              <a:gdLst/>
              <a:ahLst/>
              <a:cxnLst/>
              <a:rect r="r" b="b" t="t" l="l"/>
              <a:pathLst>
                <a:path h="38100" w="1086446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0845419" y="0"/>
                  </a:lnTo>
                  <a:cubicBezTo>
                    <a:pt x="10855960" y="0"/>
                    <a:pt x="10864469" y="8509"/>
                    <a:pt x="10864469" y="19050"/>
                  </a:cubicBezTo>
                  <a:cubicBezTo>
                    <a:pt x="10864469" y="29591"/>
                    <a:pt x="10855960" y="38100"/>
                    <a:pt x="1084541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29506" y="8326003"/>
            <a:ext cx="7694428" cy="3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Stage 3 — Grounding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29506" y="8760943"/>
            <a:ext cx="7694428" cy="36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Context formatter injects </a:t>
            </a:r>
            <a:r>
              <a:rPr lang="en-US" b="true" sz="1726" spc="-3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Title + Page</a:t>
            </a: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into prompt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150925" y="8108537"/>
            <a:ext cx="8148399" cy="1244279"/>
            <a:chOff x="0" y="0"/>
            <a:chExt cx="10864532" cy="165903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864596" cy="1659001"/>
            </a:xfrm>
            <a:custGeom>
              <a:avLst/>
              <a:gdLst/>
              <a:ahLst/>
              <a:cxnLst/>
              <a:rect r="r" b="b" t="t" l="l"/>
              <a:pathLst>
                <a:path h="1659001" w="10864596">
                  <a:moveTo>
                    <a:pt x="0" y="0"/>
                  </a:moveTo>
                  <a:lnTo>
                    <a:pt x="10864596" y="0"/>
                  </a:lnTo>
                  <a:lnTo>
                    <a:pt x="10864596" y="1553083"/>
                  </a:lnTo>
                  <a:cubicBezTo>
                    <a:pt x="10864596" y="1611630"/>
                    <a:pt x="10817225" y="1659001"/>
                    <a:pt x="10758677" y="1659001"/>
                  </a:cubicBezTo>
                  <a:lnTo>
                    <a:pt x="0" y="1659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150925" y="8108537"/>
            <a:ext cx="28594" cy="1244279"/>
            <a:chOff x="0" y="0"/>
            <a:chExt cx="38125" cy="165903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8100" cy="1659001"/>
            </a:xfrm>
            <a:custGeom>
              <a:avLst/>
              <a:gdLst/>
              <a:ahLst/>
              <a:cxnLst/>
              <a:rect r="r" b="b" t="t" l="l"/>
              <a:pathLst>
                <a:path h="1659001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639951"/>
                  </a:lnTo>
                  <a:cubicBezTo>
                    <a:pt x="38100" y="1650492"/>
                    <a:pt x="29591" y="1659001"/>
                    <a:pt x="19050" y="1659001"/>
                  </a:cubicBezTo>
                  <a:cubicBezTo>
                    <a:pt x="8509" y="1659001"/>
                    <a:pt x="0" y="1650492"/>
                    <a:pt x="0" y="1639951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150925" y="8108537"/>
            <a:ext cx="8148399" cy="28594"/>
            <a:chOff x="0" y="0"/>
            <a:chExt cx="10864532" cy="3812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864469" cy="38100"/>
            </a:xfrm>
            <a:custGeom>
              <a:avLst/>
              <a:gdLst/>
              <a:ahLst/>
              <a:cxnLst/>
              <a:rect r="r" b="b" t="t" l="l"/>
              <a:pathLst>
                <a:path h="38100" w="1086446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0845419" y="0"/>
                  </a:lnTo>
                  <a:cubicBezTo>
                    <a:pt x="10855960" y="0"/>
                    <a:pt x="10864469" y="8509"/>
                    <a:pt x="10864469" y="19050"/>
                  </a:cubicBezTo>
                  <a:cubicBezTo>
                    <a:pt x="10864469" y="29591"/>
                    <a:pt x="10855960" y="38100"/>
                    <a:pt x="1084541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377905" y="8326003"/>
            <a:ext cx="7694428" cy="3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Stage 4 — Generation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377905" y="8760943"/>
            <a:ext cx="7694428" cy="36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Google Gemini </a:t>
            </a:r>
            <a:r>
              <a:rPr lang="en-US" b="true" sz="1726" spc="-3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gemini-2.5-flash</a:t>
            </a:r>
            <a:r>
              <a:rPr lang="en-US" sz="1726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synthesizes grounded answer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6347" y="713746"/>
            <a:ext cx="6650507" cy="8867556"/>
            <a:chOff x="0" y="0"/>
            <a:chExt cx="8867343" cy="1182340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867394" cy="11823446"/>
            </a:xfrm>
            <a:custGeom>
              <a:avLst/>
              <a:gdLst/>
              <a:ahLst/>
              <a:cxnLst/>
              <a:rect r="r" b="b" t="t" l="l"/>
              <a:pathLst>
                <a:path h="11823446" w="8867394">
                  <a:moveTo>
                    <a:pt x="0" y="0"/>
                  </a:moveTo>
                  <a:lnTo>
                    <a:pt x="8867394" y="0"/>
                  </a:lnTo>
                  <a:lnTo>
                    <a:pt x="8867394" y="11823446"/>
                  </a:lnTo>
                  <a:lnTo>
                    <a:pt x="0" y="118234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2" t="0" r="-32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6182" y="1069143"/>
            <a:ext cx="9452677" cy="135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b="true" sz="4128" spc="-12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Grounding &amp; Anti-Hallucination Strategy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51410" y="2662380"/>
            <a:ext cx="488232" cy="488242"/>
            <a:chOff x="0" y="0"/>
            <a:chExt cx="650977" cy="6509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1002" cy="651002"/>
            </a:xfrm>
            <a:custGeom>
              <a:avLst/>
              <a:gdLst/>
              <a:ahLst/>
              <a:cxnLst/>
              <a:rect r="r" b="b" t="t" l="l"/>
              <a:pathLst>
                <a:path h="651002" w="651002">
                  <a:moveTo>
                    <a:pt x="0" y="121539"/>
                  </a:moveTo>
                  <a:cubicBezTo>
                    <a:pt x="0" y="54356"/>
                    <a:pt x="54356" y="0"/>
                    <a:pt x="121539" y="0"/>
                  </a:cubicBezTo>
                  <a:lnTo>
                    <a:pt x="529463" y="0"/>
                  </a:lnTo>
                  <a:cubicBezTo>
                    <a:pt x="596646" y="0"/>
                    <a:pt x="651002" y="54356"/>
                    <a:pt x="651002" y="121539"/>
                  </a:cubicBezTo>
                  <a:lnTo>
                    <a:pt x="651002" y="529463"/>
                  </a:lnTo>
                  <a:cubicBezTo>
                    <a:pt x="651002" y="596646"/>
                    <a:pt x="596646" y="651002"/>
                    <a:pt x="529463" y="651002"/>
                  </a:cubicBezTo>
                  <a:lnTo>
                    <a:pt x="121539" y="651002"/>
                  </a:lnTo>
                  <a:cubicBezTo>
                    <a:pt x="54356" y="651002"/>
                    <a:pt x="0" y="596519"/>
                    <a:pt x="0" y="529463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935935" y="2706995"/>
            <a:ext cx="319183" cy="399021"/>
            <a:chOff x="0" y="0"/>
            <a:chExt cx="425577" cy="5320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5572" cy="532030"/>
            </a:xfrm>
            <a:custGeom>
              <a:avLst/>
              <a:gdLst/>
              <a:ahLst/>
              <a:cxnLst/>
              <a:rect r="r" b="b" t="t" l="l"/>
              <a:pathLst>
                <a:path h="532030" w="425572">
                  <a:moveTo>
                    <a:pt x="0" y="0"/>
                  </a:moveTo>
                  <a:lnTo>
                    <a:pt x="425572" y="0"/>
                  </a:lnTo>
                  <a:lnTo>
                    <a:pt x="425572" y="532030"/>
                  </a:lnTo>
                  <a:lnTo>
                    <a:pt x="0" y="5320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97" t="0" r="-110398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425577" cy="5415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2"/>
                </a:lnSpc>
              </a:pPr>
              <a:r>
                <a:rPr lang="en-US" b="true" sz="2476" spc="-75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494385" y="2721235"/>
            <a:ext cx="8814464" cy="351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b="true" sz="2026" spc="-6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Retrieval Grounding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94385" y="3120723"/>
            <a:ext cx="8814464" cy="643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 spc="-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Strict system prompt enforced: </a:t>
            </a:r>
            <a:r>
              <a:rPr lang="en-US" sz="1651" i="true" spc="-33">
                <a:solidFill>
                  <a:srgbClr val="272525"/>
                </a:solidFill>
                <a:latin typeface="Inter Italics"/>
                <a:ea typeface="Inter Italics"/>
                <a:cs typeface="Inter Italics"/>
                <a:sym typeface="Inter Italics"/>
              </a:rPr>
              <a:t>"Base answers ONLY on provided context. Do not invent information."</a:t>
            </a:r>
            <a:r>
              <a:rPr lang="en-US" sz="1651" spc="-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The model is constrained to retrieved passages exclusively.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851410" y="4078548"/>
            <a:ext cx="488232" cy="488242"/>
            <a:chOff x="0" y="0"/>
            <a:chExt cx="650977" cy="6509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1002" cy="651002"/>
            </a:xfrm>
            <a:custGeom>
              <a:avLst/>
              <a:gdLst/>
              <a:ahLst/>
              <a:cxnLst/>
              <a:rect r="r" b="b" t="t" l="l"/>
              <a:pathLst>
                <a:path h="651002" w="651002">
                  <a:moveTo>
                    <a:pt x="0" y="121539"/>
                  </a:moveTo>
                  <a:cubicBezTo>
                    <a:pt x="0" y="54356"/>
                    <a:pt x="54356" y="0"/>
                    <a:pt x="121539" y="0"/>
                  </a:cubicBezTo>
                  <a:lnTo>
                    <a:pt x="529463" y="0"/>
                  </a:lnTo>
                  <a:cubicBezTo>
                    <a:pt x="596646" y="0"/>
                    <a:pt x="651002" y="54356"/>
                    <a:pt x="651002" y="121539"/>
                  </a:cubicBezTo>
                  <a:lnTo>
                    <a:pt x="651002" y="529463"/>
                  </a:lnTo>
                  <a:cubicBezTo>
                    <a:pt x="651002" y="596646"/>
                    <a:pt x="596646" y="651002"/>
                    <a:pt x="529463" y="651002"/>
                  </a:cubicBezTo>
                  <a:lnTo>
                    <a:pt x="121539" y="651002"/>
                  </a:lnTo>
                  <a:cubicBezTo>
                    <a:pt x="54356" y="651002"/>
                    <a:pt x="0" y="596519"/>
                    <a:pt x="0" y="529463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7935935" y="4123153"/>
            <a:ext cx="319183" cy="399021"/>
            <a:chOff x="0" y="0"/>
            <a:chExt cx="425577" cy="5320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5572" cy="532030"/>
            </a:xfrm>
            <a:custGeom>
              <a:avLst/>
              <a:gdLst/>
              <a:ahLst/>
              <a:cxnLst/>
              <a:rect r="r" b="b" t="t" l="l"/>
              <a:pathLst>
                <a:path h="532030" w="425572">
                  <a:moveTo>
                    <a:pt x="0" y="0"/>
                  </a:moveTo>
                  <a:lnTo>
                    <a:pt x="425572" y="0"/>
                  </a:lnTo>
                  <a:lnTo>
                    <a:pt x="425572" y="532030"/>
                  </a:lnTo>
                  <a:lnTo>
                    <a:pt x="0" y="5320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97" t="0" r="-11039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425577" cy="5415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2"/>
                </a:lnSpc>
              </a:pPr>
              <a:r>
                <a:rPr lang="en-US" b="true" sz="2476" spc="-75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494385" y="4137393"/>
            <a:ext cx="8814464" cy="351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b="true" sz="2026" spc="-6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Relevance Check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94385" y="4536891"/>
            <a:ext cx="8814464" cy="643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 spc="-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Heuristic sufficiency floor evaluates whether retrieved context adequately addresses the query before generation proceeds.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851410" y="5494715"/>
            <a:ext cx="488232" cy="488242"/>
            <a:chOff x="0" y="0"/>
            <a:chExt cx="650977" cy="65098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1002" cy="651002"/>
            </a:xfrm>
            <a:custGeom>
              <a:avLst/>
              <a:gdLst/>
              <a:ahLst/>
              <a:cxnLst/>
              <a:rect r="r" b="b" t="t" l="l"/>
              <a:pathLst>
                <a:path h="651002" w="651002">
                  <a:moveTo>
                    <a:pt x="0" y="121539"/>
                  </a:moveTo>
                  <a:cubicBezTo>
                    <a:pt x="0" y="54356"/>
                    <a:pt x="54356" y="0"/>
                    <a:pt x="121539" y="0"/>
                  </a:cubicBezTo>
                  <a:lnTo>
                    <a:pt x="529463" y="0"/>
                  </a:lnTo>
                  <a:cubicBezTo>
                    <a:pt x="596646" y="0"/>
                    <a:pt x="651002" y="54356"/>
                    <a:pt x="651002" y="121539"/>
                  </a:cubicBezTo>
                  <a:lnTo>
                    <a:pt x="651002" y="529463"/>
                  </a:lnTo>
                  <a:cubicBezTo>
                    <a:pt x="651002" y="596646"/>
                    <a:pt x="596646" y="651002"/>
                    <a:pt x="529463" y="651002"/>
                  </a:cubicBezTo>
                  <a:lnTo>
                    <a:pt x="121539" y="651002"/>
                  </a:lnTo>
                  <a:cubicBezTo>
                    <a:pt x="54356" y="651002"/>
                    <a:pt x="0" y="596519"/>
                    <a:pt x="0" y="529463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7935935" y="5539321"/>
            <a:ext cx="319183" cy="399021"/>
            <a:chOff x="0" y="0"/>
            <a:chExt cx="425577" cy="5320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5572" cy="532030"/>
            </a:xfrm>
            <a:custGeom>
              <a:avLst/>
              <a:gdLst/>
              <a:ahLst/>
              <a:cxnLst/>
              <a:rect r="r" b="b" t="t" l="l"/>
              <a:pathLst>
                <a:path h="532030" w="425572">
                  <a:moveTo>
                    <a:pt x="0" y="0"/>
                  </a:moveTo>
                  <a:lnTo>
                    <a:pt x="425572" y="0"/>
                  </a:lnTo>
                  <a:lnTo>
                    <a:pt x="425572" y="532030"/>
                  </a:lnTo>
                  <a:lnTo>
                    <a:pt x="0" y="5320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97" t="0" r="-110398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425577" cy="5415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2"/>
                </a:lnSpc>
              </a:pPr>
              <a:r>
                <a:rPr lang="en-US" b="true" sz="2476" spc="-75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8494385" y="5553561"/>
            <a:ext cx="8814464" cy="351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b="true" sz="2026" spc="-6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Fallback Mechanism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494385" y="5953049"/>
            <a:ext cx="8814464" cy="643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 spc="-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Out-of-domain or ungrounded queries trigger safe refusal: </a:t>
            </a:r>
            <a:r>
              <a:rPr lang="en-US" sz="1651" i="true" spc="-33">
                <a:solidFill>
                  <a:srgbClr val="272525"/>
                </a:solidFill>
                <a:latin typeface="Inter Italics"/>
                <a:ea typeface="Inter Italics"/>
                <a:cs typeface="Inter Italics"/>
                <a:sym typeface="Inter Italics"/>
              </a:rPr>
              <a:t>"The provided research papers do not contain sufficient information."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851410" y="6910873"/>
            <a:ext cx="488232" cy="488242"/>
            <a:chOff x="0" y="0"/>
            <a:chExt cx="650977" cy="65098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51002" cy="651002"/>
            </a:xfrm>
            <a:custGeom>
              <a:avLst/>
              <a:gdLst/>
              <a:ahLst/>
              <a:cxnLst/>
              <a:rect r="r" b="b" t="t" l="l"/>
              <a:pathLst>
                <a:path h="651002" w="651002">
                  <a:moveTo>
                    <a:pt x="0" y="121539"/>
                  </a:moveTo>
                  <a:cubicBezTo>
                    <a:pt x="0" y="54356"/>
                    <a:pt x="54356" y="0"/>
                    <a:pt x="121539" y="0"/>
                  </a:cubicBezTo>
                  <a:lnTo>
                    <a:pt x="529463" y="0"/>
                  </a:lnTo>
                  <a:cubicBezTo>
                    <a:pt x="596646" y="0"/>
                    <a:pt x="651002" y="54356"/>
                    <a:pt x="651002" y="121539"/>
                  </a:cubicBezTo>
                  <a:lnTo>
                    <a:pt x="651002" y="529463"/>
                  </a:lnTo>
                  <a:cubicBezTo>
                    <a:pt x="651002" y="596646"/>
                    <a:pt x="596646" y="651002"/>
                    <a:pt x="529463" y="651002"/>
                  </a:cubicBezTo>
                  <a:lnTo>
                    <a:pt x="121539" y="651002"/>
                  </a:lnTo>
                  <a:cubicBezTo>
                    <a:pt x="54356" y="651002"/>
                    <a:pt x="0" y="596519"/>
                    <a:pt x="0" y="529463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7935935" y="6955488"/>
            <a:ext cx="319183" cy="399021"/>
            <a:chOff x="0" y="0"/>
            <a:chExt cx="425577" cy="5320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5572" cy="532030"/>
            </a:xfrm>
            <a:custGeom>
              <a:avLst/>
              <a:gdLst/>
              <a:ahLst/>
              <a:cxnLst/>
              <a:rect r="r" b="b" t="t" l="l"/>
              <a:pathLst>
                <a:path h="532030" w="425572">
                  <a:moveTo>
                    <a:pt x="0" y="0"/>
                  </a:moveTo>
                  <a:lnTo>
                    <a:pt x="425572" y="0"/>
                  </a:lnTo>
                  <a:lnTo>
                    <a:pt x="425572" y="532030"/>
                  </a:lnTo>
                  <a:lnTo>
                    <a:pt x="0" y="5320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97" t="0" r="-110398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425577" cy="5415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2"/>
                </a:lnSpc>
              </a:pPr>
              <a:r>
                <a:rPr lang="en-US" b="true" sz="2476" spc="-75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8494385" y="6969719"/>
            <a:ext cx="8814464" cy="351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b="true" sz="2026" spc="-6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Citation Structure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494385" y="7369216"/>
            <a:ext cx="8814464" cy="643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 spc="-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Every answer includes </a:t>
            </a:r>
            <a:r>
              <a:rPr lang="en-US" b="true" sz="1651" spc="-3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Paper Title</a:t>
            </a:r>
            <a:r>
              <a:rPr lang="en-US" sz="1651" spc="-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b="true" sz="1651" spc="-3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Exact 1-Indexed Page</a:t>
            </a:r>
            <a:r>
              <a:rPr lang="en-US" sz="1651" spc="-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and </a:t>
            </a:r>
            <a:r>
              <a:rPr lang="en-US" b="true" sz="1651" spc="-3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Verbatim Supporting Passage</a:t>
            </a:r>
            <a:r>
              <a:rPr lang="en-US" sz="1651" spc="-3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fully verifiable by any reader.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856182" y="8192091"/>
            <a:ext cx="9452677" cy="1005230"/>
            <a:chOff x="0" y="0"/>
            <a:chExt cx="12603569" cy="134030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603480" cy="1340231"/>
            </a:xfrm>
            <a:custGeom>
              <a:avLst/>
              <a:gdLst/>
              <a:ahLst/>
              <a:cxnLst/>
              <a:rect r="r" b="b" t="t" l="l"/>
              <a:pathLst>
                <a:path h="1340231" w="12603480">
                  <a:moveTo>
                    <a:pt x="0" y="119126"/>
                  </a:moveTo>
                  <a:cubicBezTo>
                    <a:pt x="0" y="53340"/>
                    <a:pt x="53340" y="0"/>
                    <a:pt x="119126" y="0"/>
                  </a:cubicBezTo>
                  <a:lnTo>
                    <a:pt x="12484354" y="0"/>
                  </a:lnTo>
                  <a:cubicBezTo>
                    <a:pt x="12550140" y="0"/>
                    <a:pt x="12603480" y="53340"/>
                    <a:pt x="12603480" y="119126"/>
                  </a:cubicBezTo>
                  <a:lnTo>
                    <a:pt x="12603480" y="1221105"/>
                  </a:lnTo>
                  <a:cubicBezTo>
                    <a:pt x="12603480" y="1286891"/>
                    <a:pt x="12550140" y="1340231"/>
                    <a:pt x="12484354" y="1340231"/>
                  </a:cubicBezTo>
                  <a:lnTo>
                    <a:pt x="119126" y="1340231"/>
                  </a:lnTo>
                  <a:cubicBezTo>
                    <a:pt x="53340" y="1340231"/>
                    <a:pt x="0" y="1286891"/>
                    <a:pt x="0" y="1221105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068866" y="8428320"/>
            <a:ext cx="266005" cy="212693"/>
            <a:chOff x="0" y="0"/>
            <a:chExt cx="354673" cy="283591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354711" cy="283591"/>
            </a:xfrm>
            <a:custGeom>
              <a:avLst/>
              <a:gdLst/>
              <a:ahLst/>
              <a:cxnLst/>
              <a:rect r="r" b="b" t="t" l="l"/>
              <a:pathLst>
                <a:path h="283591" w="354711">
                  <a:moveTo>
                    <a:pt x="0" y="0"/>
                  </a:moveTo>
                  <a:lnTo>
                    <a:pt x="354711" y="0"/>
                  </a:lnTo>
                  <a:lnTo>
                    <a:pt x="354711" y="283591"/>
                  </a:lnTo>
                  <a:lnTo>
                    <a:pt x="0" y="283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365" r="10" b="-1365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8547564" y="8357168"/>
            <a:ext cx="8548602" cy="643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 spc="-3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Outcome: Reduces unsupported generation through multi-layer retrieval grounding and deterministic fallback — every answer is traceable to its source.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007173"/>
            <a:ext cx="16315868" cy="52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4"/>
              </a:lnSpc>
            </a:pPr>
            <a:r>
              <a:rPr lang="en-US" b="true" sz="3152" spc="-9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RAG Evaluation Results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721215"/>
            <a:ext cx="17230954" cy="23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5"/>
              </a:lnSpc>
            </a:pPr>
            <a:r>
              <a:rPr lang="en-US" sz="1200" spc="-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Validated on 10 canonical queries across 15 landmark papers. Results cover retrieval, grounding, citation accuracy, and refusal behavior.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09120" y="2218477"/>
            <a:ext cx="5259991" cy="465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1"/>
              </a:lnSpc>
            </a:pPr>
            <a:r>
              <a:rPr lang="en-US" b="true" sz="4128" spc="-12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100%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2834126"/>
            <a:ext cx="8092402" cy="26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7"/>
              </a:lnSpc>
            </a:pPr>
            <a:r>
              <a:rPr lang="en-US" b="true" sz="1576" spc="-4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Retrieval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3139469"/>
            <a:ext cx="8092402" cy="23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5"/>
              </a:lnSpc>
            </a:pPr>
            <a:r>
              <a:rPr lang="en-US" sz="1200" spc="-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True papers appeared in the Top-3 every time.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32586" y="2218477"/>
            <a:ext cx="5259991" cy="465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1"/>
              </a:lnSpc>
            </a:pPr>
            <a:r>
              <a:rPr lang="en-US" b="true" sz="4128" spc="-12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100%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16457" y="2834126"/>
            <a:ext cx="8092402" cy="26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7"/>
              </a:lnSpc>
            </a:pPr>
            <a:r>
              <a:rPr lang="en-US" b="true" sz="1576" spc="-4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Groundedness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16457" y="3139469"/>
            <a:ext cx="8092402" cy="23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5"/>
              </a:lnSpc>
            </a:pPr>
            <a:r>
              <a:rPr lang="en-US" sz="1200" spc="-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All answers were supported by source material.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09120" y="3728476"/>
            <a:ext cx="5259991" cy="465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1"/>
              </a:lnSpc>
            </a:pPr>
            <a:r>
              <a:rPr lang="en-US" b="true" sz="4128" spc="-12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100%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991" y="4344124"/>
            <a:ext cx="8092402" cy="26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7"/>
              </a:lnSpc>
            </a:pPr>
            <a:r>
              <a:rPr lang="en-US" b="true" sz="1576" spc="-4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Citation Accuracy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991" y="4649467"/>
            <a:ext cx="8092402" cy="23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5"/>
              </a:lnSpc>
            </a:pPr>
            <a:r>
              <a:rPr lang="en-US" sz="1200" spc="-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Citations matched titles and page numbers exactly.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32586" y="3728476"/>
            <a:ext cx="5259991" cy="465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1"/>
              </a:lnSpc>
            </a:pPr>
            <a:r>
              <a:rPr lang="en-US" b="true" sz="4128" spc="-12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100%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16457" y="4344124"/>
            <a:ext cx="8092402" cy="26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7"/>
              </a:lnSpc>
            </a:pPr>
            <a:r>
              <a:rPr lang="en-US" b="true" sz="1576" spc="-4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Anti-Hallucination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16457" y="4649467"/>
            <a:ext cx="8092402" cy="23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5"/>
              </a:lnSpc>
            </a:pPr>
            <a:r>
              <a:rPr lang="en-US" sz="1200" spc="-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Unsupported prompts were correctly refused.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2991" y="5029267"/>
            <a:ext cx="16315868" cy="26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-4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Evaluation Pipeline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2991" y="5429040"/>
            <a:ext cx="17230954" cy="23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5"/>
              </a:lnSpc>
            </a:pPr>
            <a:r>
              <a:rPr lang="en-US" sz="1200" spc="-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Question, retrieval, answer, citation check, and failure analysis.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92991" y="5779046"/>
            <a:ext cx="5438575" cy="645528"/>
            <a:chOff x="0" y="0"/>
            <a:chExt cx="7251433" cy="860704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7251446" cy="860679"/>
            </a:xfrm>
            <a:custGeom>
              <a:avLst/>
              <a:gdLst/>
              <a:ahLst/>
              <a:cxnLst/>
              <a:rect r="r" b="b" t="t" l="l"/>
              <a:pathLst>
                <a:path h="860679" w="7251446">
                  <a:moveTo>
                    <a:pt x="0" y="0"/>
                  </a:moveTo>
                  <a:lnTo>
                    <a:pt x="7251446" y="0"/>
                  </a:lnTo>
                  <a:lnTo>
                    <a:pt x="7251446" y="860679"/>
                  </a:lnTo>
                  <a:lnTo>
                    <a:pt x="0" y="860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" r="0" b="-168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54287" y="6519901"/>
            <a:ext cx="5115963" cy="26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-4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Query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54287" y="6825244"/>
            <a:ext cx="5115963" cy="23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5"/>
              </a:lnSpc>
            </a:pPr>
            <a:r>
              <a:rPr lang="en-US" sz="1200" spc="-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Selected 10 research questions.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431556" y="5779046"/>
            <a:ext cx="5438575" cy="645528"/>
            <a:chOff x="0" y="0"/>
            <a:chExt cx="7251433" cy="860704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7251446" cy="860679"/>
            </a:xfrm>
            <a:custGeom>
              <a:avLst/>
              <a:gdLst/>
              <a:ahLst/>
              <a:cxnLst/>
              <a:rect r="r" b="b" t="t" l="l"/>
              <a:pathLst>
                <a:path h="860679" w="7251446">
                  <a:moveTo>
                    <a:pt x="0" y="0"/>
                  </a:moveTo>
                  <a:lnTo>
                    <a:pt x="7251446" y="0"/>
                  </a:lnTo>
                  <a:lnTo>
                    <a:pt x="7251446" y="860679"/>
                  </a:lnTo>
                  <a:lnTo>
                    <a:pt x="0" y="860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6" r="0" b="-168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6592862" y="6519901"/>
            <a:ext cx="5115963" cy="26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-4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Retrieval Eval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592862" y="6825244"/>
            <a:ext cx="5115963" cy="23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5"/>
              </a:lnSpc>
            </a:pPr>
            <a:r>
              <a:rPr lang="en-US" sz="1200" spc="-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Checked Top-3 relevance against known sources.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870131" y="5779046"/>
            <a:ext cx="5438575" cy="645528"/>
            <a:chOff x="0" y="0"/>
            <a:chExt cx="7251433" cy="860704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7251446" cy="860679"/>
            </a:xfrm>
            <a:custGeom>
              <a:avLst/>
              <a:gdLst/>
              <a:ahLst/>
              <a:cxnLst/>
              <a:rect r="r" b="b" t="t" l="l"/>
              <a:pathLst>
                <a:path h="860679" w="7251446">
                  <a:moveTo>
                    <a:pt x="0" y="0"/>
                  </a:moveTo>
                  <a:lnTo>
                    <a:pt x="7251446" y="0"/>
                  </a:lnTo>
                  <a:lnTo>
                    <a:pt x="7251446" y="860679"/>
                  </a:lnTo>
                  <a:lnTo>
                    <a:pt x="0" y="860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6" r="0" b="-168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2031437" y="6519901"/>
            <a:ext cx="5115963" cy="26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-4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Grounded Answer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031437" y="6825244"/>
            <a:ext cx="5115963" cy="23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5"/>
              </a:lnSpc>
            </a:pPr>
            <a:r>
              <a:rPr lang="en-US" sz="1200" spc="-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Scored responses for evidence alignment.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92991" y="7218597"/>
            <a:ext cx="5438575" cy="645528"/>
            <a:chOff x="0" y="0"/>
            <a:chExt cx="7251433" cy="860704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7251446" cy="860679"/>
            </a:xfrm>
            <a:custGeom>
              <a:avLst/>
              <a:gdLst/>
              <a:ahLst/>
              <a:cxnLst/>
              <a:rect r="r" b="b" t="t" l="l"/>
              <a:pathLst>
                <a:path h="860679" w="7251446">
                  <a:moveTo>
                    <a:pt x="0" y="0"/>
                  </a:moveTo>
                  <a:lnTo>
                    <a:pt x="7251446" y="0"/>
                  </a:lnTo>
                  <a:lnTo>
                    <a:pt x="7251446" y="860679"/>
                  </a:lnTo>
                  <a:lnTo>
                    <a:pt x="0" y="860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6" r="0" b="-168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154287" y="7959452"/>
            <a:ext cx="5115963" cy="26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-4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Citation Verify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54287" y="8264795"/>
            <a:ext cx="5115963" cy="23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5"/>
              </a:lnSpc>
            </a:pPr>
            <a:r>
              <a:rPr lang="en-US" sz="1200" spc="-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Verified titles, pages, and source details.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6431556" y="7218597"/>
            <a:ext cx="5438575" cy="645528"/>
            <a:chOff x="0" y="0"/>
            <a:chExt cx="7251433" cy="860704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7251446" cy="860679"/>
            </a:xfrm>
            <a:custGeom>
              <a:avLst/>
              <a:gdLst/>
              <a:ahLst/>
              <a:cxnLst/>
              <a:rect r="r" b="b" t="t" l="l"/>
              <a:pathLst>
                <a:path h="860679" w="7251446">
                  <a:moveTo>
                    <a:pt x="0" y="0"/>
                  </a:moveTo>
                  <a:lnTo>
                    <a:pt x="7251446" y="0"/>
                  </a:lnTo>
                  <a:lnTo>
                    <a:pt x="7251446" y="860679"/>
                  </a:lnTo>
                  <a:lnTo>
                    <a:pt x="0" y="860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66" r="0" b="-168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6592862" y="7959452"/>
            <a:ext cx="5115963" cy="26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76" spc="-4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Failure Analysis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592862" y="8264795"/>
            <a:ext cx="5115963" cy="23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5"/>
              </a:lnSpc>
            </a:pPr>
            <a:r>
              <a:rPr lang="en-US" sz="1200" spc="-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Reviewed misses and refusals for tuning.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92991" y="8776106"/>
            <a:ext cx="16315868" cy="492557"/>
            <a:chOff x="0" y="0"/>
            <a:chExt cx="21754490" cy="65674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754592" cy="656844"/>
            </a:xfrm>
            <a:custGeom>
              <a:avLst/>
              <a:gdLst/>
              <a:ahLst/>
              <a:cxnLst/>
              <a:rect r="r" b="b" t="t" l="l"/>
              <a:pathLst>
                <a:path h="656844" w="21754592">
                  <a:moveTo>
                    <a:pt x="0" y="90424"/>
                  </a:moveTo>
                  <a:cubicBezTo>
                    <a:pt x="0" y="40513"/>
                    <a:pt x="40513" y="0"/>
                    <a:pt x="90424" y="0"/>
                  </a:cubicBezTo>
                  <a:lnTo>
                    <a:pt x="21664168" y="0"/>
                  </a:lnTo>
                  <a:cubicBezTo>
                    <a:pt x="21714079" y="0"/>
                    <a:pt x="21754592" y="40513"/>
                    <a:pt x="21754592" y="90424"/>
                  </a:cubicBezTo>
                  <a:lnTo>
                    <a:pt x="21754592" y="566420"/>
                  </a:lnTo>
                  <a:cubicBezTo>
                    <a:pt x="21754592" y="616331"/>
                    <a:pt x="21714079" y="656844"/>
                    <a:pt x="21664168" y="656844"/>
                  </a:cubicBezTo>
                  <a:lnTo>
                    <a:pt x="90424" y="656844"/>
                  </a:lnTo>
                  <a:cubicBezTo>
                    <a:pt x="40513" y="656717"/>
                    <a:pt x="0" y="616331"/>
                    <a:pt x="0" y="56642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54287" y="8932497"/>
            <a:ext cx="201663" cy="161306"/>
            <a:chOff x="0" y="0"/>
            <a:chExt cx="268884" cy="215074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268859" cy="215138"/>
            </a:xfrm>
            <a:custGeom>
              <a:avLst/>
              <a:gdLst/>
              <a:ahLst/>
              <a:cxnLst/>
              <a:rect r="r" b="b" t="t" l="l"/>
              <a:pathLst>
                <a:path h="215138" w="268859">
                  <a:moveTo>
                    <a:pt x="0" y="0"/>
                  </a:moveTo>
                  <a:lnTo>
                    <a:pt x="268859" y="0"/>
                  </a:lnTo>
                  <a:lnTo>
                    <a:pt x="268859" y="215138"/>
                  </a:lnTo>
                  <a:lnTo>
                    <a:pt x="0" y="215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757" t="0" r="-1766" b="29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517256" y="8902132"/>
            <a:ext cx="16545382" cy="23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5"/>
              </a:lnSpc>
            </a:pPr>
            <a:r>
              <a:rPr lang="en-US" sz="1200" spc="-2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All four metrics scored </a:t>
            </a:r>
            <a:r>
              <a:rPr lang="en-US" b="true" sz="1200" spc="-2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100%</a:t>
            </a:r>
            <a:r>
              <a:rPr lang="en-US" sz="1200" spc="-2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689781"/>
            <a:ext cx="16315868" cy="60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6"/>
              </a:lnSpc>
            </a:pPr>
            <a:r>
              <a:rPr lang="en-US" b="true" sz="3602" spc="-10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Streamlit Application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531925"/>
            <a:ext cx="17230954" cy="298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2"/>
              </a:lnSpc>
            </a:pPr>
            <a:r>
              <a:rPr lang="en-US" sz="1426" spc="-3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Production-ready research UI on top of the RAG pipeline for evaluation, exploration, and grounded answering.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991" y="2117703"/>
            <a:ext cx="7092258" cy="300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-5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System Architecture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991" y="2575103"/>
            <a:ext cx="372351" cy="232648"/>
            <a:chOff x="0" y="0"/>
            <a:chExt cx="496468" cy="3101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6470" cy="310202"/>
            </a:xfrm>
            <a:custGeom>
              <a:avLst/>
              <a:gdLst/>
              <a:ahLst/>
              <a:cxnLst/>
              <a:rect r="r" b="b" t="t" l="l"/>
              <a:pathLst>
                <a:path h="310202" w="496470">
                  <a:moveTo>
                    <a:pt x="0" y="0"/>
                  </a:moveTo>
                  <a:lnTo>
                    <a:pt x="496470" y="0"/>
                  </a:lnTo>
                  <a:lnTo>
                    <a:pt x="496470" y="310202"/>
                  </a:lnTo>
                  <a:lnTo>
                    <a:pt x="0" y="3102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65" t="0" r="-30164" b="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496468" cy="3197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426" spc="-43">
                  <a:solidFill>
                    <a:srgbClr val="272525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01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2991" y="2872397"/>
            <a:ext cx="7092258" cy="19069"/>
            <a:chOff x="0" y="0"/>
            <a:chExt cx="9456344" cy="254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56293" cy="25400"/>
            </a:xfrm>
            <a:custGeom>
              <a:avLst/>
              <a:gdLst/>
              <a:ahLst/>
              <a:cxnLst/>
              <a:rect r="r" b="b" t="t" l="l"/>
              <a:pathLst>
                <a:path h="25400" w="9456293">
                  <a:moveTo>
                    <a:pt x="0" y="0"/>
                  </a:moveTo>
                  <a:lnTo>
                    <a:pt x="9456293" y="0"/>
                  </a:lnTo>
                  <a:lnTo>
                    <a:pt x="945629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92991" y="2994089"/>
            <a:ext cx="7092258" cy="300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-5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User Input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991" y="3395967"/>
            <a:ext cx="7092258" cy="298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2"/>
              </a:lnSpc>
            </a:pPr>
            <a:r>
              <a:rPr lang="en-US" sz="1426" spc="-3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Choose a sample or ask a question.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92991" y="3973840"/>
            <a:ext cx="372351" cy="232648"/>
            <a:chOff x="0" y="0"/>
            <a:chExt cx="496468" cy="3101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6470" cy="310202"/>
            </a:xfrm>
            <a:custGeom>
              <a:avLst/>
              <a:gdLst/>
              <a:ahLst/>
              <a:cxnLst/>
              <a:rect r="r" b="b" t="t" l="l"/>
              <a:pathLst>
                <a:path h="310202" w="496470">
                  <a:moveTo>
                    <a:pt x="0" y="0"/>
                  </a:moveTo>
                  <a:lnTo>
                    <a:pt x="496470" y="0"/>
                  </a:lnTo>
                  <a:lnTo>
                    <a:pt x="496470" y="310202"/>
                  </a:lnTo>
                  <a:lnTo>
                    <a:pt x="0" y="3102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65" t="0" r="-30164" b="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496468" cy="3197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426" spc="-43">
                  <a:solidFill>
                    <a:srgbClr val="272525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02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92991" y="4271134"/>
            <a:ext cx="7092258" cy="19069"/>
            <a:chOff x="0" y="0"/>
            <a:chExt cx="9456344" cy="2542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56293" cy="25400"/>
            </a:xfrm>
            <a:custGeom>
              <a:avLst/>
              <a:gdLst/>
              <a:ahLst/>
              <a:cxnLst/>
              <a:rect r="r" b="b" t="t" l="l"/>
              <a:pathLst>
                <a:path h="25400" w="9456293">
                  <a:moveTo>
                    <a:pt x="0" y="0"/>
                  </a:moveTo>
                  <a:lnTo>
                    <a:pt x="9456293" y="0"/>
                  </a:lnTo>
                  <a:lnTo>
                    <a:pt x="945629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92991" y="4392825"/>
            <a:ext cx="7092258" cy="300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-5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Streamlit Layer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991" y="4794704"/>
            <a:ext cx="7092258" cy="298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2"/>
              </a:lnSpc>
            </a:pPr>
            <a:r>
              <a:rPr lang="en-US" sz="1426" spc="-3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Handles state, routing, and rendering.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2991" y="5372576"/>
            <a:ext cx="372351" cy="232648"/>
            <a:chOff x="0" y="0"/>
            <a:chExt cx="496468" cy="31019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6470" cy="310202"/>
            </a:xfrm>
            <a:custGeom>
              <a:avLst/>
              <a:gdLst/>
              <a:ahLst/>
              <a:cxnLst/>
              <a:rect r="r" b="b" t="t" l="l"/>
              <a:pathLst>
                <a:path h="310202" w="496470">
                  <a:moveTo>
                    <a:pt x="0" y="0"/>
                  </a:moveTo>
                  <a:lnTo>
                    <a:pt x="496470" y="0"/>
                  </a:lnTo>
                  <a:lnTo>
                    <a:pt x="496470" y="310202"/>
                  </a:lnTo>
                  <a:lnTo>
                    <a:pt x="0" y="3102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65" t="0" r="-30164" b="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496468" cy="3197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426" spc="-43">
                  <a:solidFill>
                    <a:srgbClr val="272525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03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92991" y="5669871"/>
            <a:ext cx="7092258" cy="19069"/>
            <a:chOff x="0" y="0"/>
            <a:chExt cx="9456344" cy="254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456293" cy="25400"/>
            </a:xfrm>
            <a:custGeom>
              <a:avLst/>
              <a:gdLst/>
              <a:ahLst/>
              <a:cxnLst/>
              <a:rect r="r" b="b" t="t" l="l"/>
              <a:pathLst>
                <a:path h="25400" w="9456293">
                  <a:moveTo>
                    <a:pt x="0" y="0"/>
                  </a:moveTo>
                  <a:lnTo>
                    <a:pt x="9456293" y="0"/>
                  </a:lnTo>
                  <a:lnTo>
                    <a:pt x="945629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92991" y="5791562"/>
            <a:ext cx="7092258" cy="300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-5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RAG Pipeline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2991" y="6193441"/>
            <a:ext cx="7092258" cy="298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2"/>
              </a:lnSpc>
            </a:pPr>
            <a:r>
              <a:rPr lang="en-US" sz="1426" spc="-3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Retrieves and reranks the strongest source passages.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92991" y="6771313"/>
            <a:ext cx="372351" cy="232648"/>
            <a:chOff x="0" y="0"/>
            <a:chExt cx="496468" cy="31019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6470" cy="310202"/>
            </a:xfrm>
            <a:custGeom>
              <a:avLst/>
              <a:gdLst/>
              <a:ahLst/>
              <a:cxnLst/>
              <a:rect r="r" b="b" t="t" l="l"/>
              <a:pathLst>
                <a:path h="310202" w="496470">
                  <a:moveTo>
                    <a:pt x="0" y="0"/>
                  </a:moveTo>
                  <a:lnTo>
                    <a:pt x="496470" y="0"/>
                  </a:lnTo>
                  <a:lnTo>
                    <a:pt x="496470" y="310202"/>
                  </a:lnTo>
                  <a:lnTo>
                    <a:pt x="0" y="3102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65" t="0" r="-30164" b="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496468" cy="3197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426" spc="-43">
                  <a:solidFill>
                    <a:srgbClr val="272525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04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92991" y="7068607"/>
            <a:ext cx="7092258" cy="19069"/>
            <a:chOff x="0" y="0"/>
            <a:chExt cx="9456344" cy="2542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456293" cy="25400"/>
            </a:xfrm>
            <a:custGeom>
              <a:avLst/>
              <a:gdLst/>
              <a:ahLst/>
              <a:cxnLst/>
              <a:rect r="r" b="b" t="t" l="l"/>
              <a:pathLst>
                <a:path h="25400" w="9456293">
                  <a:moveTo>
                    <a:pt x="0" y="0"/>
                  </a:moveTo>
                  <a:lnTo>
                    <a:pt x="9456293" y="0"/>
                  </a:lnTo>
                  <a:lnTo>
                    <a:pt x="945629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92991" y="7190299"/>
            <a:ext cx="7092258" cy="300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-5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Google Gemini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92991" y="7592177"/>
            <a:ext cx="7092258" cy="298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2"/>
              </a:lnSpc>
            </a:pPr>
            <a:r>
              <a:rPr lang="en-US" sz="1426" spc="-3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Generates grounded answers from the evidence.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92991" y="8170050"/>
            <a:ext cx="372351" cy="232648"/>
            <a:chOff x="0" y="0"/>
            <a:chExt cx="496468" cy="31019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96470" cy="310202"/>
            </a:xfrm>
            <a:custGeom>
              <a:avLst/>
              <a:gdLst/>
              <a:ahLst/>
              <a:cxnLst/>
              <a:rect r="r" b="b" t="t" l="l"/>
              <a:pathLst>
                <a:path h="310202" w="496470">
                  <a:moveTo>
                    <a:pt x="0" y="0"/>
                  </a:moveTo>
                  <a:lnTo>
                    <a:pt x="496470" y="0"/>
                  </a:lnTo>
                  <a:lnTo>
                    <a:pt x="496470" y="310202"/>
                  </a:lnTo>
                  <a:lnTo>
                    <a:pt x="0" y="3102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65" t="0" r="-30164" b="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496468" cy="3197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426" spc="-43">
                  <a:solidFill>
                    <a:srgbClr val="272525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05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92991" y="8467344"/>
            <a:ext cx="7092258" cy="19069"/>
            <a:chOff x="0" y="0"/>
            <a:chExt cx="9456344" cy="2542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456293" cy="25400"/>
            </a:xfrm>
            <a:custGeom>
              <a:avLst/>
              <a:gdLst/>
              <a:ahLst/>
              <a:cxnLst/>
              <a:rect r="r" b="b" t="t" l="l"/>
              <a:pathLst>
                <a:path h="25400" w="9456293">
                  <a:moveTo>
                    <a:pt x="0" y="0"/>
                  </a:moveTo>
                  <a:lnTo>
                    <a:pt x="9456293" y="0"/>
                  </a:lnTo>
                  <a:lnTo>
                    <a:pt x="945629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92991" y="8589035"/>
            <a:ext cx="7092258" cy="300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-5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Answer + Evidence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92991" y="8990914"/>
            <a:ext cx="7092258" cy="298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2"/>
              </a:lnSpc>
            </a:pPr>
            <a:r>
              <a:rPr lang="en-US" sz="1426" spc="-3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Shows the response beside cited evidence cards.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549049" y="2117703"/>
            <a:ext cx="8769182" cy="300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-5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Interface Features</a:t>
            </a:r>
          </a:p>
        </p:txBody>
      </p:sp>
      <p:sp>
        <p:nvSpPr>
          <p:cNvPr name="Freeform 45" id="45" descr="preencoded.png"/>
          <p:cNvSpPr/>
          <p:nvPr/>
        </p:nvSpPr>
        <p:spPr>
          <a:xfrm flipH="false" flipV="false" rot="0">
            <a:off x="8549049" y="2575103"/>
            <a:ext cx="4314815" cy="1362246"/>
          </a:xfrm>
          <a:custGeom>
            <a:avLst/>
            <a:gdLst/>
            <a:ahLst/>
            <a:cxnLst/>
            <a:rect r="r" b="b" t="t" l="l"/>
            <a:pathLst>
              <a:path h="1362246" w="4314815">
                <a:moveTo>
                  <a:pt x="0" y="0"/>
                </a:moveTo>
                <a:lnTo>
                  <a:pt x="4314816" y="0"/>
                </a:lnTo>
                <a:lnTo>
                  <a:pt x="4314816" y="1362246"/>
                </a:lnTo>
                <a:lnTo>
                  <a:pt x="0" y="1362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32" r="0" b="-232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8830551" y="2770823"/>
            <a:ext cx="3828078" cy="300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-5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Knowledge Base Stats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830551" y="3172701"/>
            <a:ext cx="3828078" cy="559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2"/>
              </a:lnSpc>
            </a:pPr>
            <a:r>
              <a:rPr lang="en-US" b="true" sz="1426" spc="-3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15 papers</a:t>
            </a:r>
            <a:r>
              <a:rPr lang="en-US" sz="1426" spc="-3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b="true" sz="1426" spc="-3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423 pages</a:t>
            </a:r>
            <a:r>
              <a:rPr lang="en-US" sz="1426" spc="-3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and </a:t>
            </a:r>
            <a:r>
              <a:rPr lang="en-US" b="true" sz="1426" spc="-3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2,247 chunks</a:t>
            </a:r>
            <a:r>
              <a:rPr lang="en-US" sz="1426" spc="-3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are indexed.</a:t>
            </a:r>
          </a:p>
        </p:txBody>
      </p:sp>
      <p:sp>
        <p:nvSpPr>
          <p:cNvPr name="Freeform 48" id="48" descr="preencoded.png"/>
          <p:cNvSpPr/>
          <p:nvPr/>
        </p:nvSpPr>
        <p:spPr>
          <a:xfrm flipH="false" flipV="false" rot="0">
            <a:off x="13003425" y="2575103"/>
            <a:ext cx="4314815" cy="1362246"/>
          </a:xfrm>
          <a:custGeom>
            <a:avLst/>
            <a:gdLst/>
            <a:ahLst/>
            <a:cxnLst/>
            <a:rect r="r" b="b" t="t" l="l"/>
            <a:pathLst>
              <a:path h="1362246" w="4314815">
                <a:moveTo>
                  <a:pt x="0" y="0"/>
                </a:moveTo>
                <a:lnTo>
                  <a:pt x="4314816" y="0"/>
                </a:lnTo>
                <a:lnTo>
                  <a:pt x="4314816" y="1362246"/>
                </a:lnTo>
                <a:lnTo>
                  <a:pt x="0" y="1362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32" r="0" b="-232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3284918" y="2770823"/>
            <a:ext cx="3828078" cy="300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-5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Paper Catalog Browser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284918" y="3172701"/>
            <a:ext cx="3828078" cy="298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2"/>
              </a:lnSpc>
            </a:pPr>
            <a:r>
              <a:rPr lang="en-US" sz="1426" spc="-3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Browse the source library with arXiv links.</a:t>
            </a:r>
          </a:p>
        </p:txBody>
      </p:sp>
      <p:sp>
        <p:nvSpPr>
          <p:cNvPr name="Freeform 51" id="51" descr="preencoded.png"/>
          <p:cNvSpPr/>
          <p:nvPr/>
        </p:nvSpPr>
        <p:spPr>
          <a:xfrm flipH="false" flipV="false" rot="0">
            <a:off x="8549049" y="4076910"/>
            <a:ext cx="4314815" cy="1362246"/>
          </a:xfrm>
          <a:custGeom>
            <a:avLst/>
            <a:gdLst/>
            <a:ahLst/>
            <a:cxnLst/>
            <a:rect r="r" b="b" t="t" l="l"/>
            <a:pathLst>
              <a:path h="1362246" w="4314815">
                <a:moveTo>
                  <a:pt x="0" y="0"/>
                </a:moveTo>
                <a:lnTo>
                  <a:pt x="4314816" y="0"/>
                </a:lnTo>
                <a:lnTo>
                  <a:pt x="4314816" y="1362246"/>
                </a:lnTo>
                <a:lnTo>
                  <a:pt x="0" y="1362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32" r="0" b="-232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8830551" y="4272629"/>
            <a:ext cx="3828078" cy="300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-5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Sample Query Dropdown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830551" y="4674499"/>
            <a:ext cx="3828078" cy="559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2"/>
              </a:lnSpc>
            </a:pPr>
            <a:r>
              <a:rPr lang="en-US" sz="1426" spc="-3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Ten preset research questions support quick testing.</a:t>
            </a:r>
          </a:p>
        </p:txBody>
      </p:sp>
      <p:sp>
        <p:nvSpPr>
          <p:cNvPr name="Freeform 54" id="54" descr="preencoded.png"/>
          <p:cNvSpPr/>
          <p:nvPr/>
        </p:nvSpPr>
        <p:spPr>
          <a:xfrm flipH="false" flipV="false" rot="0">
            <a:off x="13003425" y="4076910"/>
            <a:ext cx="4314815" cy="1362246"/>
          </a:xfrm>
          <a:custGeom>
            <a:avLst/>
            <a:gdLst/>
            <a:ahLst/>
            <a:cxnLst/>
            <a:rect r="r" b="b" t="t" l="l"/>
            <a:pathLst>
              <a:path h="1362246" w="4314815">
                <a:moveTo>
                  <a:pt x="0" y="0"/>
                </a:moveTo>
                <a:lnTo>
                  <a:pt x="4314816" y="0"/>
                </a:lnTo>
                <a:lnTo>
                  <a:pt x="4314816" y="1362246"/>
                </a:lnTo>
                <a:lnTo>
                  <a:pt x="0" y="1362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32" r="0" b="-232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13284918" y="4272629"/>
            <a:ext cx="3828078" cy="300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-5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Custom Question Input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284918" y="4674499"/>
            <a:ext cx="3828078" cy="298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2"/>
              </a:lnSpc>
            </a:pPr>
            <a:r>
              <a:rPr lang="en-US" sz="1426" spc="-3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Ask free-form questions for deeper research.</a:t>
            </a:r>
          </a:p>
        </p:txBody>
      </p:sp>
      <p:sp>
        <p:nvSpPr>
          <p:cNvPr name="Freeform 57" id="57" descr="preencoded.png"/>
          <p:cNvSpPr/>
          <p:nvPr/>
        </p:nvSpPr>
        <p:spPr>
          <a:xfrm flipH="false" flipV="false" rot="0">
            <a:off x="8549049" y="5578716"/>
            <a:ext cx="4314815" cy="1362246"/>
          </a:xfrm>
          <a:custGeom>
            <a:avLst/>
            <a:gdLst/>
            <a:ahLst/>
            <a:cxnLst/>
            <a:rect r="r" b="b" t="t" l="l"/>
            <a:pathLst>
              <a:path h="1362246" w="4314815">
                <a:moveTo>
                  <a:pt x="0" y="0"/>
                </a:moveTo>
                <a:lnTo>
                  <a:pt x="4314816" y="0"/>
                </a:lnTo>
                <a:lnTo>
                  <a:pt x="4314816" y="1362247"/>
                </a:lnTo>
                <a:lnTo>
                  <a:pt x="0" y="13622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32" r="0" b="-232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8830551" y="5774436"/>
            <a:ext cx="3828078" cy="300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-5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Grounded Answer Display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830551" y="6176315"/>
            <a:ext cx="3828078" cy="298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2"/>
              </a:lnSpc>
            </a:pPr>
            <a:r>
              <a:rPr lang="en-US" sz="1426" spc="-3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Shows answers with latency and model info.</a:t>
            </a:r>
          </a:p>
        </p:txBody>
      </p:sp>
      <p:sp>
        <p:nvSpPr>
          <p:cNvPr name="Freeform 60" id="60" descr="preencoded.png"/>
          <p:cNvSpPr/>
          <p:nvPr/>
        </p:nvSpPr>
        <p:spPr>
          <a:xfrm flipH="false" flipV="false" rot="0">
            <a:off x="13003425" y="5578716"/>
            <a:ext cx="4314815" cy="1362246"/>
          </a:xfrm>
          <a:custGeom>
            <a:avLst/>
            <a:gdLst/>
            <a:ahLst/>
            <a:cxnLst/>
            <a:rect r="r" b="b" t="t" l="l"/>
            <a:pathLst>
              <a:path h="1362246" w="4314815">
                <a:moveTo>
                  <a:pt x="0" y="0"/>
                </a:moveTo>
                <a:lnTo>
                  <a:pt x="4314816" y="0"/>
                </a:lnTo>
                <a:lnTo>
                  <a:pt x="4314816" y="1362247"/>
                </a:lnTo>
                <a:lnTo>
                  <a:pt x="0" y="13622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32" r="0" b="-232"/>
            </a:stretch>
          </a:blipFill>
        </p:spPr>
      </p:sp>
      <p:sp>
        <p:nvSpPr>
          <p:cNvPr name="TextBox 61" id="61"/>
          <p:cNvSpPr txBox="true"/>
          <p:nvPr/>
        </p:nvSpPr>
        <p:spPr>
          <a:xfrm rot="0">
            <a:off x="13284918" y="5774436"/>
            <a:ext cx="3828078" cy="300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b="true" sz="1801" spc="-5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Visual Citation Cards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284918" y="6176315"/>
            <a:ext cx="3828078" cy="559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2"/>
              </a:lnSpc>
            </a:pPr>
            <a:r>
              <a:rPr lang="en-US" sz="1426" spc="-3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Shows ranked sources, page references, and quotes.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163269"/>
            <a:ext cx="16315868" cy="71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3"/>
              </a:lnSpc>
            </a:pPr>
            <a:r>
              <a:rPr lang="en-US" b="true" sz="4353" spc="-13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Technical Challenges &amp; Limitations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225573"/>
            <a:ext cx="17230954" cy="39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6" spc="-3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Eight key constraints across ingestion, retrieval, generation, and infrastructure.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991" y="2848566"/>
            <a:ext cx="3928167" cy="1652835"/>
          </a:xfrm>
          <a:custGeom>
            <a:avLst/>
            <a:gdLst/>
            <a:ahLst/>
            <a:cxnLst/>
            <a:rect r="r" b="b" t="t" l="l"/>
            <a:pathLst>
              <a:path h="1652835" w="3928167">
                <a:moveTo>
                  <a:pt x="0" y="0"/>
                </a:moveTo>
                <a:lnTo>
                  <a:pt x="3928167" y="0"/>
                </a:lnTo>
                <a:lnTo>
                  <a:pt x="3928167" y="1652835"/>
                </a:lnTo>
                <a:lnTo>
                  <a:pt x="0" y="1652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4" r="0" b="-6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59379" y="3091053"/>
            <a:ext cx="3309766" cy="358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PDF Text Extraction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9379" y="3513049"/>
            <a:ext cx="3309766" cy="73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6" spc="-3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OCR can be noisy on scanned or low-quality PDFs.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5122221" y="2848566"/>
            <a:ext cx="3928167" cy="1652835"/>
          </a:xfrm>
          <a:custGeom>
            <a:avLst/>
            <a:gdLst/>
            <a:ahLst/>
            <a:cxnLst/>
            <a:rect r="r" b="b" t="t" l="l"/>
            <a:pathLst>
              <a:path h="1652835" w="3928167">
                <a:moveTo>
                  <a:pt x="0" y="0"/>
                </a:moveTo>
                <a:lnTo>
                  <a:pt x="3928167" y="0"/>
                </a:lnTo>
                <a:lnTo>
                  <a:pt x="3928167" y="1652835"/>
                </a:lnTo>
                <a:lnTo>
                  <a:pt x="0" y="1652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4" r="0" b="-64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488619" y="3091053"/>
            <a:ext cx="3309766" cy="358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Page-Level Metadata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88619" y="3513049"/>
            <a:ext cx="3309766" cy="73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6" spc="-3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Page references must survive chunking for traceable citations.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251452" y="2848566"/>
            <a:ext cx="3928167" cy="1652835"/>
          </a:xfrm>
          <a:custGeom>
            <a:avLst/>
            <a:gdLst/>
            <a:ahLst/>
            <a:cxnLst/>
            <a:rect r="r" b="b" t="t" l="l"/>
            <a:pathLst>
              <a:path h="1652835" w="3928167">
                <a:moveTo>
                  <a:pt x="0" y="0"/>
                </a:moveTo>
                <a:lnTo>
                  <a:pt x="3928167" y="0"/>
                </a:lnTo>
                <a:lnTo>
                  <a:pt x="3928167" y="1652835"/>
                </a:lnTo>
                <a:lnTo>
                  <a:pt x="0" y="1652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4" r="0" b="-64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617850" y="3091053"/>
            <a:ext cx="3309766" cy="358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Chunk-Size Selection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17850" y="3513049"/>
            <a:ext cx="3309766" cy="73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b="true" sz="1726" spc="-3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1,000 characters</a:t>
            </a:r>
            <a:r>
              <a:rPr lang="en-US" sz="1726" spc="-3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balances context and precision.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3380691" y="2848566"/>
            <a:ext cx="3928167" cy="1652835"/>
          </a:xfrm>
          <a:custGeom>
            <a:avLst/>
            <a:gdLst/>
            <a:ahLst/>
            <a:cxnLst/>
            <a:rect r="r" b="b" t="t" l="l"/>
            <a:pathLst>
              <a:path h="1652835" w="3928167">
                <a:moveTo>
                  <a:pt x="0" y="0"/>
                </a:moveTo>
                <a:lnTo>
                  <a:pt x="3928168" y="0"/>
                </a:lnTo>
                <a:lnTo>
                  <a:pt x="3928168" y="1652835"/>
                </a:lnTo>
                <a:lnTo>
                  <a:pt x="0" y="1652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4" r="0" b="-64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747080" y="3091053"/>
            <a:ext cx="3309766" cy="358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Table &amp; Figure Extraction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747080" y="3513049"/>
            <a:ext cx="3309766" cy="73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6" spc="-3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Tables and figures are only partially preserved.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992991" y="4702473"/>
            <a:ext cx="3928167" cy="1652835"/>
          </a:xfrm>
          <a:custGeom>
            <a:avLst/>
            <a:gdLst/>
            <a:ahLst/>
            <a:cxnLst/>
            <a:rect r="r" b="b" t="t" l="l"/>
            <a:pathLst>
              <a:path h="1652835" w="3928167">
                <a:moveTo>
                  <a:pt x="0" y="0"/>
                </a:moveTo>
                <a:lnTo>
                  <a:pt x="3928167" y="0"/>
                </a:lnTo>
                <a:lnTo>
                  <a:pt x="3928167" y="1652836"/>
                </a:lnTo>
                <a:lnTo>
                  <a:pt x="0" y="1652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4" r="0" b="-64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59379" y="4944961"/>
            <a:ext cx="3309766" cy="358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Retrieval Quality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9379" y="5366956"/>
            <a:ext cx="3309766" cy="73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6" spc="-3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Hybrid retrieval reaches </a:t>
            </a:r>
            <a:r>
              <a:rPr lang="en-US" b="true" sz="1726" spc="-3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90% Hit@1</a:t>
            </a:r>
            <a:r>
              <a:rPr lang="en-US" sz="1726" spc="-3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but misses still happen.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5122221" y="4702473"/>
            <a:ext cx="3928167" cy="1652835"/>
          </a:xfrm>
          <a:custGeom>
            <a:avLst/>
            <a:gdLst/>
            <a:ahLst/>
            <a:cxnLst/>
            <a:rect r="r" b="b" t="t" l="l"/>
            <a:pathLst>
              <a:path h="1652835" w="3928167">
                <a:moveTo>
                  <a:pt x="0" y="0"/>
                </a:moveTo>
                <a:lnTo>
                  <a:pt x="3928167" y="0"/>
                </a:lnTo>
                <a:lnTo>
                  <a:pt x="3928167" y="1652836"/>
                </a:lnTo>
                <a:lnTo>
                  <a:pt x="0" y="1652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4" r="0" b="-64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488619" y="4944961"/>
            <a:ext cx="3309766" cy="358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Reranking Latency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488619" y="5366956"/>
            <a:ext cx="3309766" cy="73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6" spc="-3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reranker adds about </a:t>
            </a:r>
            <a:r>
              <a:rPr lang="en-US" b="true" sz="1726" spc="-34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~650ms</a:t>
            </a:r>
            <a:r>
              <a:rPr lang="en-US" sz="1726" spc="-3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per query.</a:t>
            </a:r>
          </a:p>
        </p:txBody>
      </p:sp>
      <p:sp>
        <p:nvSpPr>
          <p:cNvPr name="Freeform 26" id="26" descr="preencoded.png"/>
          <p:cNvSpPr/>
          <p:nvPr/>
        </p:nvSpPr>
        <p:spPr>
          <a:xfrm flipH="false" flipV="false" rot="0">
            <a:off x="9251452" y="4702473"/>
            <a:ext cx="3928167" cy="1652835"/>
          </a:xfrm>
          <a:custGeom>
            <a:avLst/>
            <a:gdLst/>
            <a:ahLst/>
            <a:cxnLst/>
            <a:rect r="r" b="b" t="t" l="l"/>
            <a:pathLst>
              <a:path h="1652835" w="3928167">
                <a:moveTo>
                  <a:pt x="0" y="0"/>
                </a:moveTo>
                <a:lnTo>
                  <a:pt x="3928167" y="0"/>
                </a:lnTo>
                <a:lnTo>
                  <a:pt x="3928167" y="1652836"/>
                </a:lnTo>
                <a:lnTo>
                  <a:pt x="0" y="1652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4" r="0" b="-64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617850" y="4944961"/>
            <a:ext cx="3309766" cy="358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Context Granularity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17850" y="5366956"/>
            <a:ext cx="3309766" cy="73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6" spc="-3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Top chunks can mix evidence from different papers.</a:t>
            </a:r>
          </a:p>
        </p:txBody>
      </p:sp>
      <p:sp>
        <p:nvSpPr>
          <p:cNvPr name="Freeform 29" id="29" descr="preencoded.png"/>
          <p:cNvSpPr/>
          <p:nvPr/>
        </p:nvSpPr>
        <p:spPr>
          <a:xfrm flipH="false" flipV="false" rot="0">
            <a:off x="13380691" y="4702473"/>
            <a:ext cx="3928167" cy="1652835"/>
          </a:xfrm>
          <a:custGeom>
            <a:avLst/>
            <a:gdLst/>
            <a:ahLst/>
            <a:cxnLst/>
            <a:rect r="r" b="b" t="t" l="l"/>
            <a:pathLst>
              <a:path h="1652835" w="3928167">
                <a:moveTo>
                  <a:pt x="0" y="0"/>
                </a:moveTo>
                <a:lnTo>
                  <a:pt x="3928168" y="0"/>
                </a:lnTo>
                <a:lnTo>
                  <a:pt x="3928168" y="1652836"/>
                </a:lnTo>
                <a:lnTo>
                  <a:pt x="0" y="1652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4" r="0" b="-64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747080" y="4944961"/>
            <a:ext cx="3309766" cy="358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API Dependency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747080" y="5366956"/>
            <a:ext cx="3309766" cy="73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6" spc="-3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Gemini depends on internet access and external availability.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88219" y="6576793"/>
            <a:ext cx="16325393" cy="2540698"/>
            <a:chOff x="0" y="0"/>
            <a:chExt cx="21767190" cy="338759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767166" cy="3387598"/>
            </a:xfrm>
            <a:custGeom>
              <a:avLst/>
              <a:gdLst/>
              <a:ahLst/>
              <a:cxnLst/>
              <a:rect r="r" b="b" t="t" l="l"/>
              <a:pathLst>
                <a:path h="3387598" w="21767166">
                  <a:moveTo>
                    <a:pt x="0" y="125603"/>
                  </a:moveTo>
                  <a:cubicBezTo>
                    <a:pt x="0" y="56261"/>
                    <a:pt x="56261" y="0"/>
                    <a:pt x="125603" y="0"/>
                  </a:cubicBezTo>
                  <a:lnTo>
                    <a:pt x="21641563" y="0"/>
                  </a:lnTo>
                  <a:cubicBezTo>
                    <a:pt x="21710904" y="0"/>
                    <a:pt x="21767166" y="56261"/>
                    <a:pt x="21767166" y="125603"/>
                  </a:cubicBezTo>
                  <a:lnTo>
                    <a:pt x="21767166" y="3261995"/>
                  </a:lnTo>
                  <a:cubicBezTo>
                    <a:pt x="21767166" y="3331337"/>
                    <a:pt x="21710904" y="3387598"/>
                    <a:pt x="21641563" y="3387598"/>
                  </a:cubicBezTo>
                  <a:lnTo>
                    <a:pt x="125603" y="3387598"/>
                  </a:lnTo>
                  <a:cubicBezTo>
                    <a:pt x="56261" y="3387598"/>
                    <a:pt x="0" y="3331337"/>
                    <a:pt x="0" y="3261995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002525" y="6591090"/>
            <a:ext cx="8148399" cy="1256052"/>
            <a:chOff x="0" y="0"/>
            <a:chExt cx="10864532" cy="16747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864596" cy="1674749"/>
            </a:xfrm>
            <a:custGeom>
              <a:avLst/>
              <a:gdLst/>
              <a:ahLst/>
              <a:cxnLst/>
              <a:rect r="r" b="b" t="t" l="l"/>
              <a:pathLst>
                <a:path h="1674749" w="10864596">
                  <a:moveTo>
                    <a:pt x="104267" y="0"/>
                  </a:moveTo>
                  <a:lnTo>
                    <a:pt x="10864596" y="0"/>
                  </a:lnTo>
                  <a:lnTo>
                    <a:pt x="10864596" y="1674749"/>
                  </a:lnTo>
                  <a:lnTo>
                    <a:pt x="0" y="1674749"/>
                  </a:lnTo>
                  <a:lnTo>
                    <a:pt x="0" y="104267"/>
                  </a:lnTo>
                  <a:cubicBezTo>
                    <a:pt x="0" y="46736"/>
                    <a:pt x="46736" y="0"/>
                    <a:pt x="104267" y="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225934" y="6804984"/>
            <a:ext cx="7701582" cy="358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90% Hit@1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25934" y="7226979"/>
            <a:ext cx="7701582" cy="39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6" spc="-3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Current retrieval ceiling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150925" y="6591090"/>
            <a:ext cx="8148399" cy="1256052"/>
            <a:chOff x="0" y="0"/>
            <a:chExt cx="10864532" cy="16747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864469" cy="1674749"/>
            </a:xfrm>
            <a:custGeom>
              <a:avLst/>
              <a:gdLst/>
              <a:ahLst/>
              <a:cxnLst/>
              <a:rect r="r" b="b" t="t" l="l"/>
              <a:pathLst>
                <a:path h="1674749" w="10864469">
                  <a:moveTo>
                    <a:pt x="0" y="0"/>
                  </a:moveTo>
                  <a:lnTo>
                    <a:pt x="10760202" y="0"/>
                  </a:lnTo>
                  <a:cubicBezTo>
                    <a:pt x="10817733" y="0"/>
                    <a:pt x="10864469" y="46736"/>
                    <a:pt x="10864469" y="104267"/>
                  </a:cubicBezTo>
                  <a:lnTo>
                    <a:pt x="10864469" y="1674749"/>
                  </a:lnTo>
                  <a:lnTo>
                    <a:pt x="0" y="16747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150925" y="6591090"/>
            <a:ext cx="28594" cy="1256052"/>
            <a:chOff x="0" y="0"/>
            <a:chExt cx="38125" cy="167473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8100" cy="1674749"/>
            </a:xfrm>
            <a:custGeom>
              <a:avLst/>
              <a:gdLst/>
              <a:ahLst/>
              <a:cxnLst/>
              <a:rect r="r" b="b" t="t" l="l"/>
              <a:pathLst>
                <a:path h="1674749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655699"/>
                  </a:lnTo>
                  <a:cubicBezTo>
                    <a:pt x="38100" y="1666240"/>
                    <a:pt x="29591" y="1674749"/>
                    <a:pt x="19050" y="1674749"/>
                  </a:cubicBezTo>
                  <a:cubicBezTo>
                    <a:pt x="8509" y="1674749"/>
                    <a:pt x="0" y="1666240"/>
                    <a:pt x="0" y="1655699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374334" y="6804984"/>
            <a:ext cx="7701582" cy="358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~650ms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374334" y="7226979"/>
            <a:ext cx="7701582" cy="39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6" spc="-3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Reranking overhead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002525" y="7847143"/>
            <a:ext cx="8148399" cy="1256052"/>
            <a:chOff x="0" y="0"/>
            <a:chExt cx="10864532" cy="167473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864596" cy="1674749"/>
            </a:xfrm>
            <a:custGeom>
              <a:avLst/>
              <a:gdLst/>
              <a:ahLst/>
              <a:cxnLst/>
              <a:rect r="r" b="b" t="t" l="l"/>
              <a:pathLst>
                <a:path h="1674749" w="10864596">
                  <a:moveTo>
                    <a:pt x="0" y="0"/>
                  </a:moveTo>
                  <a:lnTo>
                    <a:pt x="10864596" y="0"/>
                  </a:lnTo>
                  <a:lnTo>
                    <a:pt x="10864596" y="1674749"/>
                  </a:lnTo>
                  <a:lnTo>
                    <a:pt x="104267" y="1674749"/>
                  </a:lnTo>
                  <a:cubicBezTo>
                    <a:pt x="46736" y="1674749"/>
                    <a:pt x="0" y="1628013"/>
                    <a:pt x="0" y="157048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02525" y="7847143"/>
            <a:ext cx="8148399" cy="28594"/>
            <a:chOff x="0" y="0"/>
            <a:chExt cx="10864532" cy="3812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864469" cy="38100"/>
            </a:xfrm>
            <a:custGeom>
              <a:avLst/>
              <a:gdLst/>
              <a:ahLst/>
              <a:cxnLst/>
              <a:rect r="r" b="b" t="t" l="l"/>
              <a:pathLst>
                <a:path h="38100" w="1086446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0845419" y="0"/>
                  </a:lnTo>
                  <a:cubicBezTo>
                    <a:pt x="10855960" y="0"/>
                    <a:pt x="10864469" y="8509"/>
                    <a:pt x="10864469" y="19050"/>
                  </a:cubicBezTo>
                  <a:cubicBezTo>
                    <a:pt x="10864469" y="29591"/>
                    <a:pt x="10855960" y="38100"/>
                    <a:pt x="1084541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225934" y="8061036"/>
            <a:ext cx="7701582" cy="358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1,000 chars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25934" y="8483032"/>
            <a:ext cx="7701582" cy="39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6" spc="-3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Chosen chunk size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150925" y="7847143"/>
            <a:ext cx="8148399" cy="1256052"/>
            <a:chOff x="0" y="0"/>
            <a:chExt cx="10864532" cy="167473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864596" cy="1674749"/>
            </a:xfrm>
            <a:custGeom>
              <a:avLst/>
              <a:gdLst/>
              <a:ahLst/>
              <a:cxnLst/>
              <a:rect r="r" b="b" t="t" l="l"/>
              <a:pathLst>
                <a:path h="1674749" w="10864596">
                  <a:moveTo>
                    <a:pt x="0" y="0"/>
                  </a:moveTo>
                  <a:lnTo>
                    <a:pt x="10864596" y="0"/>
                  </a:lnTo>
                  <a:lnTo>
                    <a:pt x="10864596" y="1570482"/>
                  </a:lnTo>
                  <a:cubicBezTo>
                    <a:pt x="10864596" y="1628013"/>
                    <a:pt x="10817860" y="1674749"/>
                    <a:pt x="10760328" y="1674749"/>
                  </a:cubicBezTo>
                  <a:lnTo>
                    <a:pt x="0" y="16747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150925" y="7847143"/>
            <a:ext cx="28594" cy="1256052"/>
            <a:chOff x="0" y="0"/>
            <a:chExt cx="38125" cy="167473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8100" cy="1674749"/>
            </a:xfrm>
            <a:custGeom>
              <a:avLst/>
              <a:gdLst/>
              <a:ahLst/>
              <a:cxnLst/>
              <a:rect r="r" b="b" t="t" l="l"/>
              <a:pathLst>
                <a:path h="1674749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655699"/>
                  </a:lnTo>
                  <a:cubicBezTo>
                    <a:pt x="38100" y="1666240"/>
                    <a:pt x="29591" y="1674749"/>
                    <a:pt x="19050" y="1674749"/>
                  </a:cubicBezTo>
                  <a:cubicBezTo>
                    <a:pt x="8509" y="1674749"/>
                    <a:pt x="0" y="1666240"/>
                    <a:pt x="0" y="1655699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150925" y="7847143"/>
            <a:ext cx="8148399" cy="28594"/>
            <a:chOff x="0" y="0"/>
            <a:chExt cx="10864532" cy="3812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864469" cy="38100"/>
            </a:xfrm>
            <a:custGeom>
              <a:avLst/>
              <a:gdLst/>
              <a:ahLst/>
              <a:cxnLst/>
              <a:rect r="r" b="b" t="t" l="l"/>
              <a:pathLst>
                <a:path h="38100" w="1086446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0845419" y="0"/>
                  </a:lnTo>
                  <a:cubicBezTo>
                    <a:pt x="10855960" y="0"/>
                    <a:pt x="10864469" y="8509"/>
                    <a:pt x="10864469" y="19050"/>
                  </a:cubicBezTo>
                  <a:cubicBezTo>
                    <a:pt x="10864469" y="29591"/>
                    <a:pt x="10855960" y="38100"/>
                    <a:pt x="1084541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9374334" y="8061036"/>
            <a:ext cx="7701582" cy="358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66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Text-Only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374334" y="8483032"/>
            <a:ext cx="7701582" cy="39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6" spc="-3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Tables and figures are limited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974112"/>
            <a:ext cx="16315868" cy="562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5"/>
              </a:lnSpc>
            </a:pPr>
            <a:r>
              <a:rPr lang="en-US" b="true" sz="3377" spc="-10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Conclusion &amp; Key Learnings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760391"/>
            <a:ext cx="16315868" cy="628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2"/>
              </a:lnSpc>
            </a:pPr>
            <a:r>
              <a:rPr lang="en-US" b="true" sz="1351" spc="-2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From paper retrieval to grounded answers.</a:t>
            </a:r>
            <a:r>
              <a:rPr lang="en-US" sz="1351" spc="-2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Pinnacle Plus shows that a well-built RAG pipeline can deliver grounded, verifiable answers on a curated academic corpus.</a:t>
            </a:r>
          </a:p>
          <a:p>
            <a:pPr algn="l">
              <a:lnSpc>
                <a:spcPts val="1832"/>
              </a:lnSpc>
            </a:pPr>
            <a:r>
              <a:rPr lang="en-US" sz="1351" spc="-2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It preserves structure, citations, and evidence from ingestion through generation.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991" y="2552329"/>
            <a:ext cx="16315868" cy="29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b="true" sz="1651" spc="-5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System Achievements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88219" y="3020597"/>
            <a:ext cx="400498" cy="400507"/>
            <a:chOff x="0" y="0"/>
            <a:chExt cx="533997" cy="5340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4035" cy="534035"/>
            </a:xfrm>
            <a:custGeom>
              <a:avLst/>
              <a:gdLst/>
              <a:ahLst/>
              <a:cxnLst/>
              <a:rect r="r" b="b" t="t" l="l"/>
              <a:pathLst>
                <a:path h="534035" w="534035">
                  <a:moveTo>
                    <a:pt x="0" y="99695"/>
                  </a:moveTo>
                  <a:cubicBezTo>
                    <a:pt x="0" y="44577"/>
                    <a:pt x="44577" y="0"/>
                    <a:pt x="99695" y="0"/>
                  </a:cubicBezTo>
                  <a:lnTo>
                    <a:pt x="434340" y="0"/>
                  </a:lnTo>
                  <a:cubicBezTo>
                    <a:pt x="489458" y="0"/>
                    <a:pt x="534035" y="44577"/>
                    <a:pt x="534035" y="99695"/>
                  </a:cubicBezTo>
                  <a:lnTo>
                    <a:pt x="534035" y="434340"/>
                  </a:lnTo>
                  <a:cubicBezTo>
                    <a:pt x="534035" y="489458"/>
                    <a:pt x="489458" y="534035"/>
                    <a:pt x="434340" y="534035"/>
                  </a:cubicBezTo>
                  <a:lnTo>
                    <a:pt x="99695" y="534035"/>
                  </a:lnTo>
                  <a:cubicBezTo>
                    <a:pt x="44577" y="534035"/>
                    <a:pt x="0" y="489331"/>
                    <a:pt x="0" y="434340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58075" y="3057906"/>
            <a:ext cx="260642" cy="325745"/>
            <a:chOff x="0" y="0"/>
            <a:chExt cx="347523" cy="4343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7528" cy="434321"/>
            </a:xfrm>
            <a:custGeom>
              <a:avLst/>
              <a:gdLst/>
              <a:ahLst/>
              <a:cxnLst/>
              <a:rect r="r" b="b" t="t" l="l"/>
              <a:pathLst>
                <a:path h="434321" w="347528">
                  <a:moveTo>
                    <a:pt x="0" y="0"/>
                  </a:moveTo>
                  <a:lnTo>
                    <a:pt x="347528" y="0"/>
                  </a:lnTo>
                  <a:lnTo>
                    <a:pt x="347528" y="434321"/>
                  </a:lnTo>
                  <a:lnTo>
                    <a:pt x="0" y="4343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349" t="0" r="-110348" b="-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347523" cy="443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b="true" sz="2026" spc="-6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05493" y="3066040"/>
            <a:ext cx="7569317" cy="29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b="true" sz="1651" spc="-5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Curated Corpus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05493" y="3410550"/>
            <a:ext cx="7569317" cy="25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2"/>
              </a:lnSpc>
            </a:pPr>
            <a:r>
              <a:rPr lang="en-US" b="true" sz="1351" spc="-2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15 papers</a:t>
            </a:r>
            <a:r>
              <a:rPr lang="en-US" sz="1351" spc="-2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spanning </a:t>
            </a:r>
            <a:r>
              <a:rPr lang="en-US" b="true" sz="1351" spc="-2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2017–2023</a:t>
            </a:r>
            <a:r>
              <a:rPr lang="en-US" sz="1351" spc="-2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22115" y="3020597"/>
            <a:ext cx="400498" cy="400507"/>
            <a:chOff x="0" y="0"/>
            <a:chExt cx="533997" cy="5340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4035" cy="534035"/>
            </a:xfrm>
            <a:custGeom>
              <a:avLst/>
              <a:gdLst/>
              <a:ahLst/>
              <a:cxnLst/>
              <a:rect r="r" b="b" t="t" l="l"/>
              <a:pathLst>
                <a:path h="534035" w="534035">
                  <a:moveTo>
                    <a:pt x="0" y="99695"/>
                  </a:moveTo>
                  <a:cubicBezTo>
                    <a:pt x="0" y="44577"/>
                    <a:pt x="44577" y="0"/>
                    <a:pt x="99695" y="0"/>
                  </a:cubicBezTo>
                  <a:lnTo>
                    <a:pt x="434340" y="0"/>
                  </a:lnTo>
                  <a:cubicBezTo>
                    <a:pt x="489458" y="0"/>
                    <a:pt x="534035" y="44577"/>
                    <a:pt x="534035" y="99695"/>
                  </a:cubicBezTo>
                  <a:lnTo>
                    <a:pt x="534035" y="434340"/>
                  </a:lnTo>
                  <a:cubicBezTo>
                    <a:pt x="534035" y="489458"/>
                    <a:pt x="489458" y="534035"/>
                    <a:pt x="434340" y="534035"/>
                  </a:cubicBezTo>
                  <a:lnTo>
                    <a:pt x="99695" y="534035"/>
                  </a:lnTo>
                  <a:cubicBezTo>
                    <a:pt x="44577" y="534035"/>
                    <a:pt x="0" y="489331"/>
                    <a:pt x="0" y="434340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291971" y="3057906"/>
            <a:ext cx="260642" cy="325745"/>
            <a:chOff x="0" y="0"/>
            <a:chExt cx="347523" cy="43432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7528" cy="434321"/>
            </a:xfrm>
            <a:custGeom>
              <a:avLst/>
              <a:gdLst/>
              <a:ahLst/>
              <a:cxnLst/>
              <a:rect r="r" b="b" t="t" l="l"/>
              <a:pathLst>
                <a:path h="434321" w="347528">
                  <a:moveTo>
                    <a:pt x="0" y="0"/>
                  </a:moveTo>
                  <a:lnTo>
                    <a:pt x="347528" y="0"/>
                  </a:lnTo>
                  <a:lnTo>
                    <a:pt x="347528" y="434321"/>
                  </a:lnTo>
                  <a:lnTo>
                    <a:pt x="0" y="4343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349" t="0" r="-110348" b="-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347523" cy="443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b="true" sz="2026" spc="-6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739389" y="3066040"/>
            <a:ext cx="7569470" cy="29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b="true" sz="1651" spc="-5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Page-Preserving Ingestion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39389" y="3410550"/>
            <a:ext cx="7569470" cy="25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2"/>
              </a:lnSpc>
            </a:pPr>
            <a:r>
              <a:rPr lang="en-US" b="true" sz="1351" spc="-2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1-indexed page metadata</a:t>
            </a:r>
            <a:r>
              <a:rPr lang="en-US" sz="1351" spc="-2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stays intact after chunking.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88219" y="3904431"/>
            <a:ext cx="400498" cy="400507"/>
            <a:chOff x="0" y="0"/>
            <a:chExt cx="533997" cy="53401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4035" cy="534035"/>
            </a:xfrm>
            <a:custGeom>
              <a:avLst/>
              <a:gdLst/>
              <a:ahLst/>
              <a:cxnLst/>
              <a:rect r="r" b="b" t="t" l="l"/>
              <a:pathLst>
                <a:path h="534035" w="534035">
                  <a:moveTo>
                    <a:pt x="0" y="99695"/>
                  </a:moveTo>
                  <a:cubicBezTo>
                    <a:pt x="0" y="44577"/>
                    <a:pt x="44577" y="0"/>
                    <a:pt x="99695" y="0"/>
                  </a:cubicBezTo>
                  <a:lnTo>
                    <a:pt x="434340" y="0"/>
                  </a:lnTo>
                  <a:cubicBezTo>
                    <a:pt x="489458" y="0"/>
                    <a:pt x="534035" y="44577"/>
                    <a:pt x="534035" y="99695"/>
                  </a:cubicBezTo>
                  <a:lnTo>
                    <a:pt x="534035" y="434340"/>
                  </a:lnTo>
                  <a:cubicBezTo>
                    <a:pt x="534035" y="489458"/>
                    <a:pt x="489458" y="534035"/>
                    <a:pt x="434340" y="534035"/>
                  </a:cubicBezTo>
                  <a:lnTo>
                    <a:pt x="99695" y="534035"/>
                  </a:lnTo>
                  <a:cubicBezTo>
                    <a:pt x="44577" y="534035"/>
                    <a:pt x="0" y="489331"/>
                    <a:pt x="0" y="434340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058075" y="3941740"/>
            <a:ext cx="260642" cy="325745"/>
            <a:chOff x="0" y="0"/>
            <a:chExt cx="347523" cy="43432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7528" cy="434321"/>
            </a:xfrm>
            <a:custGeom>
              <a:avLst/>
              <a:gdLst/>
              <a:ahLst/>
              <a:cxnLst/>
              <a:rect r="r" b="b" t="t" l="l"/>
              <a:pathLst>
                <a:path h="434321" w="347528">
                  <a:moveTo>
                    <a:pt x="0" y="0"/>
                  </a:moveTo>
                  <a:lnTo>
                    <a:pt x="347528" y="0"/>
                  </a:lnTo>
                  <a:lnTo>
                    <a:pt x="347528" y="434321"/>
                  </a:lnTo>
                  <a:lnTo>
                    <a:pt x="0" y="4343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349" t="0" r="-110348" b="-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347523" cy="443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b="true" sz="2026" spc="-6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505493" y="3949875"/>
            <a:ext cx="7569317" cy="29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b="true" sz="1651" spc="-5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Dual Embeddings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05493" y="4294384"/>
            <a:ext cx="7569317" cy="25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2"/>
              </a:lnSpc>
            </a:pPr>
            <a:r>
              <a:rPr lang="en-US" b="true" sz="1351" spc="-2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Open-source 384d embeddings</a:t>
            </a:r>
            <a:r>
              <a:rPr lang="en-US" sz="1351" spc="-2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gave the best balance of speed and simplicity.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222115" y="3904431"/>
            <a:ext cx="400498" cy="400507"/>
            <a:chOff x="0" y="0"/>
            <a:chExt cx="533997" cy="53401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4035" cy="534035"/>
            </a:xfrm>
            <a:custGeom>
              <a:avLst/>
              <a:gdLst/>
              <a:ahLst/>
              <a:cxnLst/>
              <a:rect r="r" b="b" t="t" l="l"/>
              <a:pathLst>
                <a:path h="534035" w="534035">
                  <a:moveTo>
                    <a:pt x="0" y="99695"/>
                  </a:moveTo>
                  <a:cubicBezTo>
                    <a:pt x="0" y="44577"/>
                    <a:pt x="44577" y="0"/>
                    <a:pt x="99695" y="0"/>
                  </a:cubicBezTo>
                  <a:lnTo>
                    <a:pt x="434340" y="0"/>
                  </a:lnTo>
                  <a:cubicBezTo>
                    <a:pt x="489458" y="0"/>
                    <a:pt x="534035" y="44577"/>
                    <a:pt x="534035" y="99695"/>
                  </a:cubicBezTo>
                  <a:lnTo>
                    <a:pt x="534035" y="434340"/>
                  </a:lnTo>
                  <a:cubicBezTo>
                    <a:pt x="534035" y="489458"/>
                    <a:pt x="489458" y="534035"/>
                    <a:pt x="434340" y="534035"/>
                  </a:cubicBezTo>
                  <a:lnTo>
                    <a:pt x="99695" y="534035"/>
                  </a:lnTo>
                  <a:cubicBezTo>
                    <a:pt x="44577" y="534035"/>
                    <a:pt x="0" y="489331"/>
                    <a:pt x="0" y="434340"/>
                  </a:cubicBezTo>
                  <a:close/>
                </a:path>
              </a:pathLst>
            </a:custGeom>
            <a:solidFill>
              <a:srgbClr val="DADBF1"/>
            </a:solidFill>
            <a:ln w="9532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291971" y="3941740"/>
            <a:ext cx="260642" cy="325745"/>
            <a:chOff x="0" y="0"/>
            <a:chExt cx="347523" cy="43432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7528" cy="434321"/>
            </a:xfrm>
            <a:custGeom>
              <a:avLst/>
              <a:gdLst/>
              <a:ahLst/>
              <a:cxnLst/>
              <a:rect r="r" b="b" t="t" l="l"/>
              <a:pathLst>
                <a:path h="434321" w="347528">
                  <a:moveTo>
                    <a:pt x="0" y="0"/>
                  </a:moveTo>
                  <a:lnTo>
                    <a:pt x="347528" y="0"/>
                  </a:lnTo>
                  <a:lnTo>
                    <a:pt x="347528" y="434321"/>
                  </a:lnTo>
                  <a:lnTo>
                    <a:pt x="0" y="4343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349" t="0" r="-110348" b="-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347523" cy="443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b="true" sz="2026" spc="-6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739389" y="3949875"/>
            <a:ext cx="7569470" cy="29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b="true" sz="1651" spc="-5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Two-Stage Retrieval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39389" y="4294384"/>
            <a:ext cx="7569470" cy="25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2"/>
              </a:lnSpc>
            </a:pPr>
            <a:r>
              <a:rPr lang="en-US" b="true" sz="1351" spc="-2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Dense + BM25</a:t>
            </a:r>
            <a:r>
              <a:rPr lang="en-US" sz="1351" spc="-2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retrieval feeds </a:t>
            </a:r>
            <a:r>
              <a:rPr lang="en-US" b="true" sz="1351" spc="-2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cross-encoder reranking</a:t>
            </a:r>
            <a:r>
              <a:rPr lang="en-US" sz="1351" spc="-2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92991" y="4713218"/>
            <a:ext cx="16315868" cy="29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b="true" sz="1651" spc="-5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Performance Summary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92991" y="5167198"/>
            <a:ext cx="17230954" cy="25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2"/>
              </a:lnSpc>
            </a:pPr>
            <a:r>
              <a:rPr lang="en-US" sz="1351" spc="-2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final system reached the top line on all three evaluation measures.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592610" y="6755473"/>
            <a:ext cx="2137600" cy="367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4"/>
              </a:lnSpc>
            </a:pPr>
            <a:r>
              <a:rPr lang="en-US" b="true" sz="3377" spc="-10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100%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2358028" y="5602700"/>
            <a:ext cx="2606907" cy="2606973"/>
            <a:chOff x="0" y="0"/>
            <a:chExt cx="3475876" cy="3475965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3475863" cy="3475990"/>
            </a:xfrm>
            <a:custGeom>
              <a:avLst/>
              <a:gdLst/>
              <a:ahLst/>
              <a:cxnLst/>
              <a:rect r="r" b="b" t="t" l="l"/>
              <a:pathLst>
                <a:path h="3475990" w="3475863">
                  <a:moveTo>
                    <a:pt x="0" y="0"/>
                  </a:moveTo>
                  <a:lnTo>
                    <a:pt x="3475863" y="0"/>
                  </a:lnTo>
                  <a:lnTo>
                    <a:pt x="3475863" y="3475990"/>
                  </a:lnTo>
                  <a:lnTo>
                    <a:pt x="0" y="3475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92991" y="8355501"/>
            <a:ext cx="5337143" cy="25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2"/>
              </a:lnSpc>
            </a:pPr>
            <a:r>
              <a:rPr lang="en-US" sz="1351" spc="-2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Retrieval Relevance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081972" y="6755473"/>
            <a:ext cx="2137600" cy="367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4"/>
              </a:lnSpc>
            </a:pPr>
            <a:r>
              <a:rPr lang="en-US" b="true" sz="3377" spc="-10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100%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7847390" y="5602700"/>
            <a:ext cx="2606907" cy="2606973"/>
            <a:chOff x="0" y="0"/>
            <a:chExt cx="3475876" cy="3475965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3475863" cy="3475990"/>
            </a:xfrm>
            <a:custGeom>
              <a:avLst/>
              <a:gdLst/>
              <a:ahLst/>
              <a:cxnLst/>
              <a:rect r="r" b="b" t="t" l="l"/>
              <a:pathLst>
                <a:path h="3475990" w="3475863">
                  <a:moveTo>
                    <a:pt x="0" y="0"/>
                  </a:moveTo>
                  <a:lnTo>
                    <a:pt x="3475863" y="0"/>
                  </a:lnTo>
                  <a:lnTo>
                    <a:pt x="3475863" y="3475990"/>
                  </a:lnTo>
                  <a:lnTo>
                    <a:pt x="0" y="3475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6482201" y="8355501"/>
            <a:ext cx="5337296" cy="25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2"/>
              </a:lnSpc>
            </a:pPr>
            <a:r>
              <a:rPr lang="en-US" sz="1351" spc="-2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Groundedness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571334" y="6755473"/>
            <a:ext cx="2137600" cy="367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4"/>
              </a:lnSpc>
            </a:pPr>
            <a:r>
              <a:rPr lang="en-US" b="true" sz="3377" spc="-10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100%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3336753" y="5602700"/>
            <a:ext cx="2606907" cy="2606973"/>
            <a:chOff x="0" y="0"/>
            <a:chExt cx="3475876" cy="3475965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3475863" cy="3475990"/>
            </a:xfrm>
            <a:custGeom>
              <a:avLst/>
              <a:gdLst/>
              <a:ahLst/>
              <a:cxnLst/>
              <a:rect r="r" b="b" t="t" l="l"/>
              <a:pathLst>
                <a:path h="3475990" w="3475863">
                  <a:moveTo>
                    <a:pt x="0" y="0"/>
                  </a:moveTo>
                  <a:lnTo>
                    <a:pt x="3475863" y="0"/>
                  </a:lnTo>
                  <a:lnTo>
                    <a:pt x="3475863" y="3475990"/>
                  </a:lnTo>
                  <a:lnTo>
                    <a:pt x="0" y="3475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1971563" y="8355501"/>
            <a:ext cx="5337296" cy="25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2"/>
              </a:lnSpc>
            </a:pPr>
            <a:r>
              <a:rPr lang="en-US" sz="1351" spc="-2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Citation Accuracy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92991" y="8747655"/>
            <a:ext cx="16315868" cy="554069"/>
            <a:chOff x="0" y="0"/>
            <a:chExt cx="21754490" cy="73875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754466" cy="738759"/>
            </a:xfrm>
            <a:custGeom>
              <a:avLst/>
              <a:gdLst/>
              <a:ahLst/>
              <a:cxnLst/>
              <a:rect r="r" b="b" t="t" l="l"/>
              <a:pathLst>
                <a:path h="738759" w="21754466">
                  <a:moveTo>
                    <a:pt x="0" y="97282"/>
                  </a:moveTo>
                  <a:cubicBezTo>
                    <a:pt x="0" y="43561"/>
                    <a:pt x="43561" y="0"/>
                    <a:pt x="97282" y="0"/>
                  </a:cubicBezTo>
                  <a:lnTo>
                    <a:pt x="21657183" y="0"/>
                  </a:lnTo>
                  <a:cubicBezTo>
                    <a:pt x="21710904" y="0"/>
                    <a:pt x="21754466" y="43561"/>
                    <a:pt x="21754466" y="97282"/>
                  </a:cubicBezTo>
                  <a:lnTo>
                    <a:pt x="21754466" y="641477"/>
                  </a:lnTo>
                  <a:cubicBezTo>
                    <a:pt x="21754466" y="695198"/>
                    <a:pt x="21710904" y="738759"/>
                    <a:pt x="21657183" y="738759"/>
                  </a:cubicBezTo>
                  <a:lnTo>
                    <a:pt x="97282" y="738759"/>
                  </a:lnTo>
                  <a:cubicBezTo>
                    <a:pt x="43561" y="738759"/>
                    <a:pt x="0" y="695198"/>
                    <a:pt x="0" y="641477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66651" y="8922515"/>
            <a:ext cx="217151" cy="173669"/>
            <a:chOff x="0" y="0"/>
            <a:chExt cx="289535" cy="231559"/>
          </a:xfrm>
        </p:grpSpPr>
        <p:sp>
          <p:nvSpPr>
            <p:cNvPr name="Freeform 54" id="54" descr="preencoded.png"/>
            <p:cNvSpPr/>
            <p:nvPr/>
          </p:nvSpPr>
          <p:spPr>
            <a:xfrm flipH="false" flipV="false" rot="0">
              <a:off x="0" y="0"/>
              <a:ext cx="289560" cy="231521"/>
            </a:xfrm>
            <a:custGeom>
              <a:avLst/>
              <a:gdLst/>
              <a:ahLst/>
              <a:cxnLst/>
              <a:rect r="r" b="b" t="t" l="l"/>
              <a:pathLst>
                <a:path h="231521" w="289560">
                  <a:moveTo>
                    <a:pt x="0" y="0"/>
                  </a:moveTo>
                  <a:lnTo>
                    <a:pt x="289560" y="0"/>
                  </a:lnTo>
                  <a:lnTo>
                    <a:pt x="289560" y="231521"/>
                  </a:lnTo>
                  <a:lnTo>
                    <a:pt x="0" y="2315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45" r="8" b="-1662"/>
              </a:stretch>
            </a:blip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557471" y="8893493"/>
            <a:ext cx="16492804" cy="25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2"/>
              </a:lnSpc>
            </a:pPr>
            <a:r>
              <a:rPr lang="en-US" b="true" sz="1351" spc="-2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Thank you — Questions &amp; Discussion</a:t>
            </a:r>
            <a:r>
              <a:rPr lang="en-US" sz="1351" spc="-2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The Streamlit app delivers evidence-grounded answers with source traceability.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DAHVsukjrhE</dc:identifier>
  <dcterms:modified xsi:type="dcterms:W3CDTF">2011-08-01T06:04:30Z</dcterms:modified>
  <cp:revision>1</cp:revision>
  <dc:title>Pinnacle-Plus (2).pptx</dc:title>
</cp:coreProperties>
</file>